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jM1qKzaUsm/7k2r4KzNhEkGjnY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25" y="1371600"/>
            <a:ext cx="6858325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open warmly and set the frame — this is a hands-on, zero-assumptions workshop. Teaching points: welcome everyone by name if possible; reassure that no prior coding is needed; by the end of today they will have written and understood their own Python. Time: ~2 min. Transition: 'First, a quick hello and what today looks like.'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6674234b2_0_0:notes"/>
          <p:cNvSpPr/>
          <p:nvPr>
            <p:ph idx="2" type="sldImg"/>
          </p:nvPr>
        </p:nvSpPr>
        <p:spPr>
          <a:xfrm>
            <a:off x="1714825" y="1371600"/>
            <a:ext cx="68583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Google Shape;27;g3f6674234b2_0_0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introduce the instructor briefly and state the single promise of today. Teaching points: keep intro short — students already enrolled and know Rebounce; share one line on your background to build trust; land the promise: 'you will write real Python today.' Time: ~2 min. Transition: 'Here's where today fits in the bigger four-month picture.'</a:t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show where Session 1 sits in the 4-month arc and what students walk away with. Teaching points: we start with pure Python foundations (that's today), then data libraries, ML, and applied AI; every month ends in a capstone; everything is published to GitHub as a job-ready portfolio. Emphasise: projects, not certificates, get you hired. Time: ~3 min. Transition: 'So what exactly will you be able to do by the end of today?'</a:t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preview the concrete skills for today so students know the destination. Teaching points: walk through the six outcome chips quickly; reassure that each has hands-on practice; frame them as a checklist we'll tick off together. Time: ~2 min. Transition: 'Let's zoom out first — what is data science, and why Python?'</a:t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signal a shift into the first content block — the big picture. Teaching points: this chapter answers 'what is all of this and why does it matter'; keep energy high; it's conceptual, no code yet. Time: ~30 sec. Transition: 'Let's start with the term everyone uses — data science.'</a:t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give a plain-language definition of data science as a workflow, not a mystery. Teaching points: data science is turning raw data into decisions; walk the five steps left to right using a familiar example (e.g. which movie to watch, or exam scores); stress it's a repeatable process. Suggested demo: none. Time: ~4 min. Transition: 'You'll hear AI, ML, deep learning used interchangeably — here's how they actually relate.'</a:t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clarify that AI, ML, and deep learning are nested, not competing. Teaching points: AI is the broad goal (machines doing smart things); ML is one way to get there (learning from data); deep learning is a powerful subset of ML using neural networks. Use the nesting visual. Time: ~4 min. Transition: 'All three are built and taught in one language above all — Python.'</a:t>
            </a:r>
            <a:endParaRPr/>
          </a:p>
        </p:txBody>
      </p:sp>
      <p:sp>
        <p:nvSpPr>
          <p:cNvPr id="168" name="Google Shape;16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motivate Python as the beginner-friendly, industry-standard language. Teaching points: reads almost like English; huge library ecosystem; the #1 language for data and AI; free and everywhere. Reassure non-coders it was designed to be readable. Time: ~3 min. Transition: 'And it's not just for data — Python runs across whole industries.'</a:t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make Python feel relevant beyond data science. Teaching points: highlight the breadth — data, AI, web, finance, automation, science; skills transfer widely; connect to student backgrounds (UPSC, MBA, non-tech). Time: ~2 min. Transition: 'For data work specifically, a handful of libraries do the heavy lifting — the Python ecosystem.'</a:t>
            </a:r>
            <a:endParaRPr/>
          </a:p>
        </p:txBody>
      </p:sp>
      <p:sp>
        <p:nvSpPr>
          <p:cNvPr id="220" name="Google Shape;22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preview the core data libraries so the names feel familiar later. Teaching points: today is pure Python — no libraries yet; but soon we'll meet NumPy (fast numbers), Pandas (spreadsheets in code), Matplotlib (charts), scikit-learn (ML). Keep it light — a map, not a lecture. Time: ~2 min. Transition: 'Before any of that, we need a place to write and run code — Google Colab.'</a:t>
            </a:r>
            <a:endParaRPr/>
          </a:p>
        </p:txBody>
      </p:sp>
      <p:sp>
        <p:nvSpPr>
          <p:cNvPr id="249" name="Google Shape;24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transition into the hands-on workspace chapter. Teaching points: everything from here is practical; we use Google Colab exclusively — nothing to install; make sure everyone has a browser tab open. Time: ~30 sec. Transition: 'Why Colab and not something you install? Here's why.'</a:t>
            </a:r>
            <a:endParaRPr/>
          </a:p>
        </p:txBody>
      </p:sp>
      <p:sp>
        <p:nvSpPr>
          <p:cNvPr id="277" name="Google Shape;27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build confidence that Colab removes every setup barrier. Teaching points: nothing to install; runs in the browser; free access to powerful machines; saves to Google Drive automatically; easy to share like a Google Doc. Time: ~3 min. Transition: 'Let's look at what you'll actually see when you open it.'</a:t>
            </a:r>
            <a:endParaRPr/>
          </a:p>
        </p:txBody>
      </p:sp>
      <p:sp>
        <p:nvSpPr>
          <p:cNvPr id="290" name="Google Shape;29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orient students to the Colab layout before we touch it live. Teaching points: point out the file name, +Code and +Text buttons, a code cell with its run button, the output area below, and the Connected/runtime indicator. Keep it to the parts they'll use today. Suggested demo: switch to Colab and point to each area live. Time: ~4 min. Transition: 'Now let's actually run our first cell.'</a:t>
            </a:r>
            <a:endParaRPr/>
          </a:p>
        </p:txBody>
      </p:sp>
      <p:sp>
        <p:nvSpPr>
          <p:cNvPr id="313" name="Google Shape;31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cover the everyday notebook actions students will repeat all program long. Teaching points: create a new notebook; write code cells vs text (markdown) cells; run cells; the runtime menu (run all, restart); rename by clicking the title; save is automatic to Drive but Ctrl+S works; Share button for links; upload files via the folder panel. Suggested demo: do each action live in Colab. Time: ~4 min. Transition: 'Time to switch to Colab — our first live coding.'</a:t>
            </a:r>
            <a:endParaRPr/>
          </a:p>
        </p:txBody>
      </p:sp>
      <p:sp>
        <p:nvSpPr>
          <p:cNvPr id="361" name="Google Shape;36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mark the switch from slides to Colab. Teaching points: stop presenting; open Notebook 01; tell students to open it too and follow along; we'll cover variables and data types hands-on. Suggested demo: open </a:t>
            </a:r>
            <a:r>
              <a:rPr lang="en-US" sz="1200">
                <a:solidFill>
                  <a:schemeClr val="dk1"/>
                </a:solidFill>
              </a:rPr>
              <a:t>Q1_datatypes_operators.ipynb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Time: ~30 sec to set up. Transition: return to slides only to summarise each concept.</a:t>
            </a:r>
            <a:endParaRPr/>
          </a:p>
        </p:txBody>
      </p:sp>
      <p:sp>
        <p:nvSpPr>
          <p:cNvPr id="390" name="Google Shape;39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8" name="Google Shape;408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teach variables as labelled boxes that store values. Teaching points: a variable is a name pointing to a value; use = to assign; you can change it later; naming rules (letters, numbers, underscores; no spaces). Use the box diagram with student examples: name, age, marks. Suggested demo: assign and reprint a variable live. Time: ~4 min. Transition: 'Every value you store has a TYPE — let's meet them.'</a:t>
            </a:r>
            <a:endParaRPr/>
          </a:p>
        </p:txBody>
      </p:sp>
      <p:sp>
        <p:nvSpPr>
          <p:cNvPr id="409" name="Google Shape;409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8" name="Google Shape;438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introduce the four core data types students meet today. Teaching points: int (whole numbers), float (decimals), str (text), bool (True/False); use type() to check; each behaves differently. Connect each to an everyday example: age, temperature, name, is_passed. Suggested demo: run type() on each in Notebook 01. Time: ~3 min. Transition: 'Let's take numbers first.'</a:t>
            </a:r>
            <a:endParaRPr/>
          </a:p>
        </p:txBody>
      </p:sp>
      <p:sp>
        <p:nvSpPr>
          <p:cNvPr id="439" name="Google Shape;439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4" name="Google Shape;474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distinguish integers from floats and show casting/rounding gotchas. Teaching points: int vs float; float(2) → 2.0; int(3.99) → 3 (it cuts off, not rounds!); this trips beginners up in Notebook 01 Exercises 3 and 4. Suggested demo: run int(4.7) and round(4.7) side by side. Time: ~3 min. Transition: 'Numbers are one kind of value; text is the other big one — strings.'</a:t>
            </a:r>
            <a:endParaRPr/>
          </a:p>
        </p:txBody>
      </p:sp>
      <p:sp>
        <p:nvSpPr>
          <p:cNvPr id="475" name="Google Shape;475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7" name="Google Shape;497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introduce strings as text you can index, slice, and transform. Teaching points: quotes make a string; each character has a position starting at 0; negative index counts from the end; slicing [start:stop]; handy methods .upper() .lower() .replace(). This maps to Notebook 02. Suggested demo: index and slice the word Data Science live. Time: ~4 min. Transition: 'Numbers and strings are values — now, True or False: booleans.'</a:t>
            </a:r>
            <a:endParaRPr/>
          </a:p>
        </p:txBody>
      </p:sp>
      <p:sp>
        <p:nvSpPr>
          <p:cNvPr id="498" name="Google Shape;498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1" name="Google Shape;541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introduce booleans as the yes/no values that power decisions. Teaching points: only two values, True and False (capital T/F); they come from comparisons like age &gt;= 18; they'll drive if-statements next session. Use relatable examples: is_passed, has_paid. Time: ~2 min. Transition: 'Booleans usually come from comparing things — which brings us to operators. But first, a quick check.'</a:t>
            </a:r>
            <a:endParaRPr/>
          </a:p>
        </p:txBody>
      </p:sp>
      <p:sp>
        <p:nvSpPr>
          <p:cNvPr id="542" name="Google Shape;542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1" name="Google Shape;561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active-recall break — get students reasoning about code before running it. Teaching points: ask the room to predict each line before revealing; the key idea: '10' + '10' joins text (1010) while 10 + 10 adds numbers (20); this is Notebook 03 Exercise 5. Suggested demo: run both after they guess. Time: ~3 min. Transition: 'That difference is all about operators — our next chapter.'</a:t>
            </a:r>
            <a:endParaRPr/>
          </a:p>
        </p:txBody>
      </p:sp>
      <p:sp>
        <p:nvSpPr>
          <p:cNvPr id="562" name="Google Shape;562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transition into operators. Teaching points: operators are the verbs of Python — they do things to values; three families we'll cover: arithmetic, comparison, logical. Time: ~30 sec. Transition: 'Let's start with the ones you already know from maths — arithmetic.'</a:t>
            </a:r>
            <a:endParaRPr/>
          </a:p>
        </p:txBody>
      </p:sp>
      <p:sp>
        <p:nvSpPr>
          <p:cNvPr id="584" name="Google Shape;584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6" name="Google Shape;596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give the map of the three operator families before drilling into each. Teaching points: arithmetic does maths; comparison asks questions and returns booleans; logical combines conditions. Preview each with a one-line example. Time: ~2 min. Transition: 'Arithmetic first.'</a:t>
            </a:r>
            <a:endParaRPr/>
          </a:p>
        </p:txBody>
      </p:sp>
      <p:sp>
        <p:nvSpPr>
          <p:cNvPr id="597" name="Google Shape;597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2" name="Google Shape;622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teach the seven arithmetic operators, focusing on the three beginners forget: // floor division, % modulo, ** power. Teaching points: use a = 17, b = 5 like Notebook 01 Exercise 5; 17 / 5 = 3.4, 17 // 5 = 3, 17 % 5 = 2; remind order of operations (BODMAS). Suggested demo: run each in Notebook 01. Time: ~4 min. Transition: 'Those give numbers — comparison operators give True or False.'</a:t>
            </a:r>
            <a:endParaRPr/>
          </a:p>
        </p:txBody>
      </p:sp>
      <p:sp>
        <p:nvSpPr>
          <p:cNvPr id="623" name="Google Shape;623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8" name="Google Shape;658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teach comparison operators and the classic = vs == trap. Teaching points: == asks 'are these equal?' and returns a boolean; a single = assigns. This is Notebook 01 Exercise 8 — the most common beginner bug. Walk each operator with marks example (marks == 90). Time: ~3 min. Transition: 'To combine two comparisons, we use logical operators.'</a:t>
            </a:r>
            <a:endParaRPr/>
          </a:p>
        </p:txBody>
      </p:sp>
      <p:sp>
        <p:nvSpPr>
          <p:cNvPr id="659" name="Google Shape;659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3" name="Google Shape;693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teach and / or / not for combining conditions. Teaching points: and needs both true; or needs at least one true; not flips it. Use a real example: age &gt;= 18 and has_id. This is Notebook 01 Exercise 10 (truth table). Time: ~3 min. Transition: 'Back to strings — there's more we can do with text.'</a:t>
            </a:r>
            <a:endParaRPr/>
          </a:p>
        </p:txBody>
      </p:sp>
      <p:sp>
        <p:nvSpPr>
          <p:cNvPr id="694" name="Google Shape;694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1" name="Google Shape;721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show the everyday string operations students will use constantly. Teaching points: + joins (concatenation); f-strings drop values into text cleanly; .strip() trims spaces; .split() breaks a string into parts; .replace() swaps. Use Asha examples from Notebook 02. Suggested demo: build a sentence with an f-string live. Time: ~4 min. Transition: 'Time to put it all together — switch to Colab.'</a:t>
            </a:r>
            <a:endParaRPr/>
          </a:p>
        </p:txBody>
      </p:sp>
      <p:sp>
        <p:nvSpPr>
          <p:cNvPr id="722" name="Google Shape;722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9" name="Google Shape;749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mark the second hands-on block — strings. Teaching points: open Notebook 02; students follow along; we'll index, slice, clean and split real text (names, records). Suggested demo: open </a:t>
            </a:r>
            <a:r>
              <a:rPr lang="en-US" sz="1200">
                <a:solidFill>
                  <a:schemeClr val="dk1"/>
                </a:solidFill>
              </a:rPr>
              <a:t>Q2_strings.ipynb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work through the first few exercises together. Time: ~30 sec to set up, then work in Colab. Transition: come back to slides for common mistakes.</a:t>
            </a:r>
            <a:endParaRPr/>
          </a:p>
        </p:txBody>
      </p:sp>
      <p:sp>
        <p:nvSpPr>
          <p:cNvPr id="750" name="Google Shape;750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8" name="Google Shape;768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normalise errors and teach how to read them. Teaching points: everyone hits these; = vs ==; adding a string to a number ('5' + 5); forgetting quotes; wrong indentation; case sensitivity (Name vs name). Reassure: error messages are hints, not failures. This maps to Notebook 01 Exercise 11 (break it on purpose). Time: ~3 min. Transition: 'Quick quiz to check what stuck.'</a:t>
            </a:r>
            <a:endParaRPr/>
          </a:p>
        </p:txBody>
      </p:sp>
      <p:sp>
        <p:nvSpPr>
          <p:cNvPr id="769" name="Google Shape;769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2" name="Google Shape;792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quick retrieval check on today's core ideas. Teaching points: ask the room each question; let them answer aloud or in chat before revealing; answers — 1: str, 2: 3 (floor division), 3: False. Keep it light and encouraging. Time: ~3 min. Transition: 'Now you try — a few guided drills.'</a:t>
            </a:r>
            <a:endParaRPr/>
          </a:p>
        </p:txBody>
      </p:sp>
      <p:sp>
        <p:nvSpPr>
          <p:cNvPr id="793" name="Google Shape;793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6" name="Google Shape;816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hands-on drills that combine everything — this is Minor Project 1. Teaching points: open Notebook 03; three drills — Fahrenheit→Celsius converter, split a restaurant bill with tip, and build a username from a messy name; students attempt, you circulate. Suggested demo: start Drill 1 together, then let them finish. Time: ~8-10 min. Transition: 'Whatever you don't finish becomes homework.'</a:t>
            </a:r>
            <a:endParaRPr/>
          </a:p>
        </p:txBody>
      </p:sp>
      <p:sp>
        <p:nvSpPr>
          <p:cNvPr id="817" name="Google Shape;817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8" name="Google Shape;848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set light, doable homework so beginners stay motivated. Teaching points: the only task is to finish the three drills we started in Notebook 03; encourage them to replay today's examples and change the numbers; keep it pressure-free and remind them help is available. Time: ~2 min. Transition: 'Let us recap what you learned today.'</a:t>
            </a:r>
            <a:endParaRPr/>
          </a:p>
        </p:txBody>
      </p:sp>
      <p:sp>
        <p:nvSpPr>
          <p:cNvPr id="849" name="Google Shape;849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8" name="Google Shape;868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consolidate the day into a memorable checklist. Teaching points: recap each win — you ran code in Colab, used variables, worked with four data types, and applied three operator families; celebrate that they wrote real Python from zero. Time: ~2 min. Transition: 'Here's a taste of what's next.'</a:t>
            </a:r>
            <a:endParaRPr/>
          </a:p>
        </p:txBody>
      </p:sp>
      <p:sp>
        <p:nvSpPr>
          <p:cNvPr id="869" name="Google Shape;869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7" name="Google Shape;897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build anticipation for Session 2 and give a clear pre-work nudge. Teaching points: next up — collections (lists, tuples, sets, dictionaries) and writing compact logic with comprehensions and lambda; pre-work is to finish today's drills. End on encouragement. Time: ~1 min. Transition: close the session, thank everyone, remind of GitHub submission.</a:t>
            </a:r>
            <a:endParaRPr/>
          </a:p>
        </p:txBody>
      </p:sp>
      <p:sp>
        <p:nvSpPr>
          <p:cNvPr id="898" name="Google Shape;898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13906500" y="-1714500"/>
            <a:ext cx="5905500" cy="5905500"/>
          </a:xfrm>
          <a:prstGeom prst="ellipse">
            <a:avLst/>
          </a:prstGeom>
          <a:solidFill>
            <a:srgbClr val="1F9D57">
              <a:alpha val="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-1333500" y="7429500"/>
            <a:ext cx="4953000" cy="4953000"/>
          </a:xfrm>
          <a:prstGeom prst="ellipse">
            <a:avLst/>
          </a:prstGeom>
          <a:solidFill>
            <a:srgbClr val="CE4A32">
              <a:alpha val="588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" name="Google Shape;1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495300"/>
            <a:ext cx="1582936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1047750" y="267464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APPLIED AI &amp; ANALYTICS LAB · SESSION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1047750" y="3265190"/>
            <a:ext cx="146685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6765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8850"/>
              <a:buFont typeface="Arial"/>
              <a:buNone/>
            </a:pPr>
            <a:r>
              <a:rPr b="1" i="0" lang="en-US" sz="88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Getting at Home in Python</a:t>
            </a:r>
            <a:endParaRPr b="0" i="0" sz="8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047750" y="4770140"/>
            <a:ext cx="1257300" cy="76200"/>
          </a:xfrm>
          <a:prstGeom prst="roundRect">
            <a:avLst>
              <a:gd fmla="val 50000" name="adj"/>
            </a:avLst>
          </a:prstGeom>
          <a:solidFill>
            <a:srgbClr val="CE4A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47750" y="5151140"/>
            <a:ext cx="10988040" cy="10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90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Write and understand your very first Python programs — starting from absolute zero.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047750" y="6888460"/>
            <a:ext cx="27196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47750" y="7282160"/>
            <a:ext cx="27196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Mr. Varunn Kaushik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053582" y="6888460"/>
            <a:ext cx="3520549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FORMAT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053582" y="7282160"/>
            <a:ext cx="3520549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Live workshop · ~2 hours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787482" y="6888460"/>
            <a:ext cx="192218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TOOL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787482" y="7282160"/>
            <a:ext cx="192218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Google Colab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WELCOME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047750" y="1390650"/>
            <a:ext cx="13096875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509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You're about to write your first line of code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47750" y="2551113"/>
            <a:ext cx="8436868" cy="6878638"/>
          </a:xfrm>
          <a:prstGeom prst="roundRect">
            <a:avLst>
              <a:gd fmla="val 3600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524000" y="4830763"/>
            <a:ext cx="876300" cy="876300"/>
          </a:xfrm>
          <a:prstGeom prst="roundRect">
            <a:avLst>
              <a:gd fmla="val 23913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485900" y="4830763"/>
            <a:ext cx="95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VK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628900" y="4903788"/>
            <a:ext cx="4648299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Mr. Varunn Kaushik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628900" y="5335588"/>
            <a:ext cx="4648299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AI &amp; Analytics Leader · Decision Science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524000" y="5992813"/>
            <a:ext cx="7708899" cy="1195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9255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15+ years building real AI systems and 1,000+ learners trained. Today I'll teach the way the industry actually works — one hands-on step at a time.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903719" y="2551113"/>
            <a:ext cx="7336433" cy="6878638"/>
          </a:xfrm>
          <a:prstGeom prst="roundRect">
            <a:avLst>
              <a:gd fmla="val 360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0379969" y="5065911"/>
            <a:ext cx="7022326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TODAY'S PROMISE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0379969" y="5554861"/>
            <a:ext cx="6575451" cy="13980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By the end of this session, you'll read, run, and write basic Python — </a:t>
            </a:r>
            <a:r>
              <a:rPr b="0" i="0" lang="en-US" sz="255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confidently, with zero prior experience.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4320143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7013635" y="9674225"/>
            <a:ext cx="302816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THE ROAD AHEAD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Your 4-month learning journey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047750" y="2453580"/>
            <a:ext cx="3862387" cy="5896670"/>
          </a:xfrm>
          <a:prstGeom prst="roundRect">
            <a:avLst>
              <a:gd fmla="val 5425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047750" y="2453580"/>
            <a:ext cx="3862387" cy="57150"/>
          </a:xfrm>
          <a:prstGeom prst="rect">
            <a:avLst/>
          </a:prstGeom>
          <a:solidFill>
            <a:srgbClr val="1F9D5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371600" y="2872680"/>
            <a:ext cx="353615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MONTH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371600" y="3272730"/>
            <a:ext cx="3536156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Data Foundations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371600" y="3774381"/>
            <a:ext cx="3311128" cy="7008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286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Python, NumPy, Pandas &amp; your first real analysis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371600" y="7753350"/>
            <a:ext cx="3311128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You are here →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157788" y="2453580"/>
            <a:ext cx="3862387" cy="5896670"/>
          </a:xfrm>
          <a:prstGeom prst="roundRect">
            <a:avLst>
              <a:gd fmla="val 5425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481638" y="2815530"/>
            <a:ext cx="353615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98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A998F"/>
                </a:solidFill>
                <a:latin typeface="Arial"/>
                <a:ea typeface="Arial"/>
                <a:cs typeface="Arial"/>
                <a:sym typeface="Arial"/>
              </a:rPr>
              <a:t>MONTH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481638" y="3215580"/>
            <a:ext cx="3536156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481638" y="3717231"/>
            <a:ext cx="3311128" cy="7008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286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Core algorithms &amp; real model building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9267825" y="2453580"/>
            <a:ext cx="3862387" cy="5896670"/>
          </a:xfrm>
          <a:prstGeom prst="roundRect">
            <a:avLst>
              <a:gd fmla="val 5425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9591675" y="2815530"/>
            <a:ext cx="353615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98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A998F"/>
                </a:solidFill>
                <a:latin typeface="Arial"/>
                <a:ea typeface="Arial"/>
                <a:cs typeface="Arial"/>
                <a:sym typeface="Arial"/>
              </a:rPr>
              <a:t>MONTH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9591675" y="3215580"/>
            <a:ext cx="3536156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Deep Learning &amp; NLP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591675" y="3717231"/>
            <a:ext cx="3311128" cy="7008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286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Neural networks, vision &amp; language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3377863" y="2453580"/>
            <a:ext cx="3862387" cy="5896670"/>
          </a:xfrm>
          <a:prstGeom prst="roundRect">
            <a:avLst>
              <a:gd fmla="val 5425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3701713" y="2815530"/>
            <a:ext cx="353615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98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A998F"/>
                </a:solidFill>
                <a:latin typeface="Arial"/>
                <a:ea typeface="Arial"/>
                <a:cs typeface="Arial"/>
                <a:sym typeface="Arial"/>
              </a:rPr>
              <a:t>MONTH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3701713" y="3215580"/>
            <a:ext cx="3536156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Applied AI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3701713" y="3717231"/>
            <a:ext cx="3311128" cy="7008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286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Build, deploy &amp; ship end-to-end AI apps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047750" y="8597900"/>
            <a:ext cx="5245100" cy="831850"/>
          </a:xfrm>
          <a:prstGeom prst="roundRect">
            <a:avLst>
              <a:gd fmla="val 20611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352550" y="8826500"/>
            <a:ext cx="625574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12+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054324" y="8864600"/>
            <a:ext cx="1820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weekly projects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521450" y="8597900"/>
            <a:ext cx="5245100" cy="831850"/>
          </a:xfrm>
          <a:prstGeom prst="roundRect">
            <a:avLst>
              <a:gd fmla="val 20611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826250" y="8826500"/>
            <a:ext cx="256381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158832" y="8864600"/>
            <a:ext cx="223432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monthly capstones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1995150" y="8597900"/>
            <a:ext cx="5245100" cy="831850"/>
          </a:xfrm>
          <a:prstGeom prst="roundRect">
            <a:avLst>
              <a:gd fmla="val 20611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2299950" y="8874125"/>
            <a:ext cx="84703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3223181" y="8864600"/>
            <a:ext cx="22222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job-ready portfolio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4315580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7009071" y="9674225"/>
            <a:ext cx="307380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SESSION OBJECTIVES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What you'll be able to do today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047750" y="2453580"/>
            <a:ext cx="5232400" cy="3364210"/>
          </a:xfrm>
          <a:prstGeom prst="roundRect">
            <a:avLst>
              <a:gd fmla="val 622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428750" y="3556397"/>
            <a:ext cx="491744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428750" y="3969147"/>
            <a:ext cx="4604512" cy="7838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847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Understand what data science is and where Python fits into AI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527800" y="2453580"/>
            <a:ext cx="5232400" cy="3364210"/>
          </a:xfrm>
          <a:prstGeom prst="roundRect">
            <a:avLst>
              <a:gd fmla="val 622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908800" y="3556397"/>
            <a:ext cx="491744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908800" y="3969147"/>
            <a:ext cx="4604512" cy="7838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847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Navigate Google Colab and run Python code confidently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2007851" y="2453580"/>
            <a:ext cx="5232400" cy="3364210"/>
          </a:xfrm>
          <a:prstGeom prst="roundRect">
            <a:avLst>
              <a:gd fmla="val 622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2388851" y="3556397"/>
            <a:ext cx="491744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2388851" y="3969147"/>
            <a:ext cx="4604512" cy="7838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847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Use variables to store and label information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047750" y="6065441"/>
            <a:ext cx="5232400" cy="3364309"/>
          </a:xfrm>
          <a:prstGeom prst="roundRect">
            <a:avLst>
              <a:gd fmla="val 622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428750" y="7168357"/>
            <a:ext cx="491744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1428750" y="7581106"/>
            <a:ext cx="4604512" cy="7838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847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Work with data types — numbers, strings &amp; booleans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527800" y="6065441"/>
            <a:ext cx="5232400" cy="3364309"/>
          </a:xfrm>
          <a:prstGeom prst="roundRect">
            <a:avLst>
              <a:gd fmla="val 622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908800" y="7168357"/>
            <a:ext cx="491744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908800" y="7581106"/>
            <a:ext cx="4604512" cy="7838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847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Apply operators to calculate, compare &amp; decide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2007851" y="6065441"/>
            <a:ext cx="5232400" cy="3364309"/>
          </a:xfrm>
          <a:prstGeom prst="roundRect">
            <a:avLst>
              <a:gd fmla="val 6229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2388851" y="7168357"/>
            <a:ext cx="491744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2388851" y="7581106"/>
            <a:ext cx="4604512" cy="7838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8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&amp; write your own basic Python programs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4312503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7005995" y="9674225"/>
            <a:ext cx="31045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4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12673807" y="3048000"/>
            <a:ext cx="5127863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33000"/>
              <a:buFont typeface="Arial"/>
              <a:buNone/>
            </a:pPr>
            <a:r>
              <a:rPr b="1" i="0" lang="en-US" sz="330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047750" y="4035822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CHAPTER 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047750" y="4569222"/>
            <a:ext cx="12573000" cy="9707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48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The big picture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047750" y="5825728"/>
            <a:ext cx="94297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Data science, AI, and where Python fits in.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4311610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7005102" y="9674225"/>
            <a:ext cx="311348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What is data science?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047750" y="2186880"/>
            <a:ext cx="13620750" cy="4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6545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Turning raw data into decisions — a repeatable process, not magic.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047750" y="3162201"/>
            <a:ext cx="2766020" cy="6267549"/>
          </a:xfrm>
          <a:prstGeom prst="roundRect">
            <a:avLst>
              <a:gd fmla="val 6887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202819" y="5744964"/>
            <a:ext cx="245588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202819" y="6164064"/>
            <a:ext cx="24558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Ask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202819" y="6564114"/>
            <a:ext cx="2455882" cy="3209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7237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 clear question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947120" y="3162201"/>
            <a:ext cx="400050" cy="630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404320" y="3162201"/>
            <a:ext cx="2766120" cy="6267549"/>
          </a:xfrm>
          <a:prstGeom prst="roundRect">
            <a:avLst>
              <a:gd fmla="val 6887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559384" y="5744964"/>
            <a:ext cx="245599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559384" y="6164064"/>
            <a:ext cx="24559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Collect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559384" y="6564114"/>
            <a:ext cx="2455991" cy="3209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7237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Gather the data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7303790" y="3162201"/>
            <a:ext cx="400050" cy="630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7760990" y="3162201"/>
            <a:ext cx="2766020" cy="6267549"/>
          </a:xfrm>
          <a:prstGeom prst="roundRect">
            <a:avLst>
              <a:gd fmla="val 6887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7916059" y="5744964"/>
            <a:ext cx="245588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7916059" y="6164064"/>
            <a:ext cx="24558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Analyze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7916059" y="6564114"/>
            <a:ext cx="2455882" cy="3209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7237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Clean &amp; explore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0660361" y="3162201"/>
            <a:ext cx="400050" cy="630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1117561" y="3162201"/>
            <a:ext cx="2766120" cy="6267549"/>
          </a:xfrm>
          <a:prstGeom prst="roundRect">
            <a:avLst>
              <a:gd fmla="val 6887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1272625" y="5744964"/>
            <a:ext cx="245599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1272625" y="6164064"/>
            <a:ext cx="24559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1272625" y="6564114"/>
            <a:ext cx="2455991" cy="3209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7237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Find the pattern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4017030" y="3162201"/>
            <a:ext cx="400050" cy="630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4474230" y="3162201"/>
            <a:ext cx="2766020" cy="6267549"/>
          </a:xfrm>
          <a:prstGeom prst="roundRect">
            <a:avLst>
              <a:gd fmla="val 6887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4629299" y="5744964"/>
            <a:ext cx="245588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4629299" y="6164064"/>
            <a:ext cx="24558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4629299" y="6564114"/>
            <a:ext cx="2455882" cy="3209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723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 on the insight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14308336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7001827" y="9674225"/>
            <a:ext cx="31462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AI vs Machine Learning vs Deep Learning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2286000" y="3255566"/>
            <a:ext cx="5334000" cy="5334000"/>
          </a:xfrm>
          <a:prstGeom prst="ellipse">
            <a:avLst/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633401" y="3636566"/>
            <a:ext cx="2963059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220"/>
              <a:buFont typeface="Arial"/>
              <a:buNone/>
            </a:pPr>
            <a:r>
              <a:rPr b="1" i="0" lang="en-US" sz="222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Artificial Intelligence</a:t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2926110" y="4535785"/>
            <a:ext cx="4053780" cy="4053780"/>
          </a:xfrm>
          <a:prstGeom prst="ellipse">
            <a:avLst/>
          </a:prstGeom>
          <a:solidFill>
            <a:srgbClr val="BFE3C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892897" y="4859635"/>
            <a:ext cx="233222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3615234" y="5995194"/>
            <a:ext cx="2675434" cy="2594372"/>
          </a:xfrm>
          <a:prstGeom prst="ellipse">
            <a:avLst/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386939" y="6960900"/>
            <a:ext cx="12135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Deep Learning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9429750" y="3688953"/>
            <a:ext cx="7810500" cy="1323975"/>
          </a:xfrm>
          <a:prstGeom prst="roundRect">
            <a:avLst>
              <a:gd fmla="val 14388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9429750" y="3688953"/>
            <a:ext cx="57150" cy="1323975"/>
          </a:xfrm>
          <a:prstGeom prst="rect">
            <a:avLst/>
          </a:prstGeom>
          <a:solidFill>
            <a:srgbClr val="1F9D5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9829800" y="3993753"/>
            <a:ext cx="777430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Artificial Intelligence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9829800" y="4374753"/>
            <a:ext cx="777430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93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The broad goal — machines doing tasks that seem smart.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9429750" y="5260578"/>
            <a:ext cx="7810500" cy="1323975"/>
          </a:xfrm>
          <a:prstGeom prst="roundRect">
            <a:avLst>
              <a:gd fmla="val 14388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9429750" y="5260578"/>
            <a:ext cx="57150" cy="1323975"/>
          </a:xfrm>
          <a:prstGeom prst="rect">
            <a:avLst/>
          </a:prstGeom>
          <a:solidFill>
            <a:srgbClr val="1F9D5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9829800" y="5565378"/>
            <a:ext cx="777430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9829800" y="5946378"/>
            <a:ext cx="777430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93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A subset of AI — systems that learn patterns from data.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9429750" y="6832203"/>
            <a:ext cx="7810500" cy="1323975"/>
          </a:xfrm>
          <a:prstGeom prst="roundRect">
            <a:avLst>
              <a:gd fmla="val 14388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9429750" y="6832203"/>
            <a:ext cx="57150" cy="1323975"/>
          </a:xfrm>
          <a:prstGeom prst="rect">
            <a:avLst/>
          </a:prstGeom>
          <a:solidFill>
            <a:srgbClr val="1F9D5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9829800" y="7137003"/>
            <a:ext cx="777430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Deep Learning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9829800" y="7518003"/>
            <a:ext cx="777430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93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A subset of ML — neural networks for images, text &amp; speech.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0" name="Google Shape;19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7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14328081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17021573" y="9674225"/>
            <a:ext cx="294878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WHY THIS LANGUAGE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Why Python?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1047750" y="2434530"/>
            <a:ext cx="7972425" cy="3373735"/>
          </a:xfrm>
          <a:prstGeom prst="roundRect">
            <a:avLst>
              <a:gd fmla="val 6211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1466850" y="3530501"/>
            <a:ext cx="7847648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Reads like English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1466850" y="3994051"/>
            <a:ext cx="7348252" cy="7562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522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Designed to be readable. You spend time thinking, not fighting syntax.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9267825" y="2434530"/>
            <a:ext cx="7972425" cy="3373735"/>
          </a:xfrm>
          <a:prstGeom prst="roundRect">
            <a:avLst>
              <a:gd fmla="val 6211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9686925" y="3710087"/>
            <a:ext cx="7847648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Batteries included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9686925" y="4173637"/>
            <a:ext cx="7847648" cy="397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522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Thousands of ready-made libraries for data, charts, and AI.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047750" y="6055916"/>
            <a:ext cx="7972425" cy="3373834"/>
          </a:xfrm>
          <a:prstGeom prst="roundRect">
            <a:avLst>
              <a:gd fmla="val 6211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1466850" y="7331472"/>
            <a:ext cx="7847648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The language of AI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466850" y="7795022"/>
            <a:ext cx="7847648" cy="397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522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The #1 choice for data science, machine learning, and research.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9267825" y="6055916"/>
            <a:ext cx="7972425" cy="3373834"/>
          </a:xfrm>
          <a:prstGeom prst="roundRect">
            <a:avLst>
              <a:gd fmla="val 6211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9686925" y="7151986"/>
            <a:ext cx="7847648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Free &amp; everywhere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9686925" y="7615535"/>
            <a:ext cx="7348252" cy="7562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5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Open-source, runs on any machine, and huge community support.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3" name="Google Shape;21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8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4312008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7005499" y="9674225"/>
            <a:ext cx="310952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IN THE REAL WORLD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Where Python is used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1047750" y="2434530"/>
            <a:ext cx="5245100" cy="3383260"/>
          </a:xfrm>
          <a:prstGeom prst="roundRect">
            <a:avLst>
              <a:gd fmla="val 5631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1371600" y="3762970"/>
            <a:ext cx="505714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Data &amp; Analytics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1371600" y="4169371"/>
            <a:ext cx="505714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Dashboards, reports, insights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6521450" y="2434530"/>
            <a:ext cx="5245100" cy="3383260"/>
          </a:xfrm>
          <a:prstGeom prst="roundRect">
            <a:avLst>
              <a:gd fmla="val 5631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845300" y="3762970"/>
            <a:ext cx="505714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AI &amp; Machine Learning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6845300" y="4169371"/>
            <a:ext cx="505714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Chatbots, recommendations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11995150" y="2434530"/>
            <a:ext cx="5245100" cy="3383260"/>
          </a:xfrm>
          <a:prstGeom prst="roundRect">
            <a:avLst>
              <a:gd fmla="val 5631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12319000" y="3762970"/>
            <a:ext cx="505714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Web &amp; Apps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2319000" y="4169371"/>
            <a:ext cx="505714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Backends for sites &amp; services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47750" y="6046391"/>
            <a:ext cx="5245100" cy="3383359"/>
          </a:xfrm>
          <a:prstGeom prst="roundRect">
            <a:avLst>
              <a:gd fmla="val 5630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371600" y="7374831"/>
            <a:ext cx="505714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Finance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371600" y="7781231"/>
            <a:ext cx="505714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Modelling, risk, trading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6521450" y="6046391"/>
            <a:ext cx="5245100" cy="3383359"/>
          </a:xfrm>
          <a:prstGeom prst="roundRect">
            <a:avLst>
              <a:gd fmla="val 5630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6845300" y="7374831"/>
            <a:ext cx="505714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6845300" y="7781231"/>
            <a:ext cx="505714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Repetitive tasks, scripts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11995150" y="6046391"/>
            <a:ext cx="5245100" cy="3383359"/>
          </a:xfrm>
          <a:prstGeom prst="roundRect">
            <a:avLst>
              <a:gd fmla="val 5630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2319000" y="7374831"/>
            <a:ext cx="505714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Science &amp; Research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2319000" y="7781231"/>
            <a:ext cx="505714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Experiments, simulations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4308336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7001827" y="9674225"/>
            <a:ext cx="31462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THE TOOLKIT AHEAD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The Python ecosystem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047750" y="2167830"/>
            <a:ext cx="130968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Today is pure Python. These libraries build on it in the weeks ahead.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1047750" y="3006030"/>
            <a:ext cx="5803900" cy="6423720"/>
          </a:xfrm>
          <a:prstGeom prst="roundRect">
            <a:avLst>
              <a:gd fmla="val 3611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1409700" y="5556250"/>
            <a:ext cx="55880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THE 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1409700" y="6007100"/>
            <a:ext cx="5588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1409700" y="6559550"/>
            <a:ext cx="558800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language everything else is built 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7080250" y="3006030"/>
            <a:ext cx="4984750" cy="3116560"/>
          </a:xfrm>
          <a:prstGeom prst="roundRect">
            <a:avLst>
              <a:gd fmla="val 6113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7385050" y="4240411"/>
            <a:ext cx="48126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7385050" y="4602361"/>
            <a:ext cx="48126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Fast numbers &amp; arrays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12255501" y="3006030"/>
            <a:ext cx="4984750" cy="3116560"/>
          </a:xfrm>
          <a:prstGeom prst="roundRect">
            <a:avLst>
              <a:gd fmla="val 6113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2560301" y="4240411"/>
            <a:ext cx="48126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12560301" y="4602361"/>
            <a:ext cx="48126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Spreadsheets in code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7080250" y="6313091"/>
            <a:ext cx="4984750" cy="3116659"/>
          </a:xfrm>
          <a:prstGeom prst="roundRect">
            <a:avLst>
              <a:gd fmla="val 6112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7385050" y="7547571"/>
            <a:ext cx="48126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7385050" y="7909521"/>
            <a:ext cx="48126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Charts &amp; visuals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12255501" y="6313091"/>
            <a:ext cx="4984750" cy="3116659"/>
          </a:xfrm>
          <a:prstGeom prst="roundRect">
            <a:avLst>
              <a:gd fmla="val 6112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12560301" y="7547571"/>
            <a:ext cx="48126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scikit-learn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12560301" y="7909521"/>
            <a:ext cx="48126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0" name="Google Shape;2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0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14366677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17060168" y="9674225"/>
            <a:ext cx="256282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4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"/>
          <p:cNvSpPr/>
          <p:nvPr/>
        </p:nvSpPr>
        <p:spPr>
          <a:xfrm>
            <a:off x="12673807" y="3048000"/>
            <a:ext cx="5127863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33000"/>
              <a:buFont typeface="Arial"/>
              <a:buNone/>
            </a:pPr>
            <a:r>
              <a:rPr b="1" i="0" lang="en-US" sz="330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1047750" y="3569494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CHAPTER 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1047750" y="4102894"/>
            <a:ext cx="11772900" cy="1903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48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Your workspace: Google Colab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1047750" y="6292057"/>
            <a:ext cx="94297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Write and run Python in your browser — nothing to install.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3" name="Google Shape;2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1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14435634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17129125" y="9674225"/>
            <a:ext cx="18732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THE TOOL WE'LL USE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Why Google Colab?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1047750" y="2434530"/>
            <a:ext cx="7972425" cy="3373735"/>
          </a:xfrm>
          <a:prstGeom prst="roundRect">
            <a:avLst>
              <a:gd fmla="val 6211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1447800" y="3729633"/>
            <a:ext cx="78895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Nothing to install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1447800" y="4167783"/>
            <a:ext cx="7889558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6453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Open a browser tab and start coding. No downloads, no setup.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9267825" y="2434530"/>
            <a:ext cx="7972425" cy="3373735"/>
          </a:xfrm>
          <a:prstGeom prst="roundRect">
            <a:avLst>
              <a:gd fmla="val 6211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9667875" y="3729633"/>
            <a:ext cx="78895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Free &amp; powerful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9667875" y="4167783"/>
            <a:ext cx="7889558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6453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Runs on Google's machines — even free GPUs for later sessions.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1047750" y="6055916"/>
            <a:ext cx="7972425" cy="3373834"/>
          </a:xfrm>
          <a:prstGeom prst="roundRect">
            <a:avLst>
              <a:gd fmla="val 6211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1447800" y="7351118"/>
            <a:ext cx="78895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Saves automatically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1447800" y="7789268"/>
            <a:ext cx="7889558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6453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Every notebook lives safely in your Google Drive.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9267825" y="6055916"/>
            <a:ext cx="7972425" cy="3373834"/>
          </a:xfrm>
          <a:prstGeom prst="roundRect">
            <a:avLst>
              <a:gd fmla="val 6211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9667875" y="7351118"/>
            <a:ext cx="78895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Share like a Doc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9667875" y="7789268"/>
            <a:ext cx="7889558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6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Send a link and collaborate — just like Google Docs.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6" name="Google Shape;30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2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14387315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17080806" y="9674225"/>
            <a:ext cx="23564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"/>
          <p:cNvSpPr/>
          <p:nvPr/>
        </p:nvSpPr>
        <p:spPr>
          <a:xfrm>
            <a:off x="1047750" y="8382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GET ORIENTED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1047750" y="1295400"/>
            <a:ext cx="17811750" cy="5980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928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The Colab interface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1047750" y="4121746"/>
            <a:ext cx="9610824" cy="3365500"/>
          </a:xfrm>
          <a:prstGeom prst="roundRect">
            <a:avLst>
              <a:gd fmla="val 5660" name="adj"/>
            </a:avLst>
          </a:prstGeom>
          <a:solidFill>
            <a:srgbClr val="F4F7F4"/>
          </a:solidFill>
          <a:ln cap="flat" cmpd="sng" w="9525">
            <a:solidFill>
              <a:srgbClr val="E2E8E2"/>
            </a:solidFill>
            <a:prstDash val="solid"/>
            <a:round/>
            <a:headEnd len="sm" w="sm" type="none"/>
            <a:tailEnd len="sm" w="sm" type="none"/>
          </a:ln>
          <a:effectLst>
            <a:outerShdw blurRad="476250" rotWithShape="0" algn="bl" dir="5400000" dist="190500">
              <a:srgbClr val="0C2E1E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1054100" y="4128095"/>
            <a:ext cx="9598125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1054100" y="4744045"/>
            <a:ext cx="9598125" cy="9525"/>
          </a:xfrm>
          <a:prstGeom prst="rect">
            <a:avLst/>
          </a:prstGeom>
          <a:solidFill>
            <a:srgbClr val="E7ECE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1263650" y="4369396"/>
            <a:ext cx="133350" cy="133350"/>
          </a:xfrm>
          <a:prstGeom prst="ellipse">
            <a:avLst/>
          </a:prstGeom>
          <a:solidFill>
            <a:srgbClr val="E4837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1511300" y="4369396"/>
            <a:ext cx="133350" cy="133350"/>
          </a:xfrm>
          <a:prstGeom prst="ellipse">
            <a:avLst/>
          </a:prstGeom>
          <a:solidFill>
            <a:srgbClr val="E8C06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1758950" y="4369396"/>
            <a:ext cx="133350" cy="133350"/>
          </a:xfrm>
          <a:prstGeom prst="ellipse">
            <a:avLst/>
          </a:prstGeom>
          <a:solidFill>
            <a:srgbClr val="8FC9A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2120900" y="4328120"/>
            <a:ext cx="19066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S01_Variables.ipynb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9195495" y="4280495"/>
            <a:ext cx="1247180" cy="311150"/>
          </a:xfrm>
          <a:prstGeom prst="roundRect">
            <a:avLst>
              <a:gd fmla="val 5000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9328845" y="4337645"/>
            <a:ext cx="105668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● Connected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1054100" y="5385396"/>
            <a:ext cx="9598125" cy="9525"/>
          </a:xfrm>
          <a:prstGeom prst="rect">
            <a:avLst/>
          </a:prstGeom>
          <a:solidFill>
            <a:srgbClr val="EEF2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1263650" y="4883746"/>
            <a:ext cx="924421" cy="368300"/>
          </a:xfrm>
          <a:prstGeom prst="roundRect">
            <a:avLst>
              <a:gd fmla="val 2069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1416050" y="4959946"/>
            <a:ext cx="695821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+ Code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2302371" y="4883746"/>
            <a:ext cx="814983" cy="368300"/>
          </a:xfrm>
          <a:prstGeom prst="roundRect">
            <a:avLst>
              <a:gd fmla="val 20690" name="adj"/>
            </a:avLst>
          </a:prstGeom>
          <a:solidFill>
            <a:srgbClr val="F0F2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2454771" y="4959946"/>
            <a:ext cx="586383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+ Text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1263650" y="5639395"/>
            <a:ext cx="361950" cy="361950"/>
          </a:xfrm>
          <a:prstGeom prst="ellipse">
            <a:avLst/>
          </a:prstGeom>
          <a:solidFill>
            <a:srgbClr val="1F9D5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1225550" y="5639395"/>
            <a:ext cx="438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1758950" y="5639395"/>
            <a:ext cx="8683725" cy="971550"/>
          </a:xfrm>
          <a:prstGeom prst="roundRect">
            <a:avLst>
              <a:gd fmla="val 9804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1949450" y="5810845"/>
            <a:ext cx="8563236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3784"/>
              </a:lnSpc>
              <a:spcBef>
                <a:spcPts val="0"/>
              </a:spcBef>
              <a:spcAft>
                <a:spcPts val="0"/>
              </a:spcAft>
              <a:buClr>
                <a:srgbClr val="9FB8AA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name 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0" lang="en-US" sz="1650" u="none" cap="none" strike="noStrike">
                <a:solidFill>
                  <a:srgbClr val="F0C674"/>
                </a:solidFill>
                <a:latin typeface="Courier New"/>
                <a:ea typeface="Courier New"/>
                <a:cs typeface="Courier New"/>
                <a:sym typeface="Courier New"/>
              </a:rPr>
              <a:t>"Aarav" </a:t>
            </a:r>
            <a:r>
              <a:rPr b="0" i="0" lang="en-US" sz="16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(name)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1758950" y="6763345"/>
            <a:ext cx="8683725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1758950" y="6763345"/>
            <a:ext cx="25400" cy="469900"/>
          </a:xfrm>
          <a:prstGeom prst="rect">
            <a:avLst/>
          </a:prstGeom>
          <a:solidFill>
            <a:srgbClr val="C9D6C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1955800" y="6858595"/>
            <a:ext cx="8575936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4A42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3A4A42"/>
                </a:solidFill>
                <a:latin typeface="Courier New"/>
                <a:ea typeface="Courier New"/>
                <a:cs typeface="Courier New"/>
                <a:sym typeface="Courier New"/>
              </a:rPr>
              <a:t>Aarav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11039575" y="4209852"/>
            <a:ext cx="419100" cy="419100"/>
          </a:xfrm>
          <a:prstGeom prst="roundRect">
            <a:avLst>
              <a:gd fmla="val 27273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11001475" y="4209852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11611075" y="4209852"/>
            <a:ext cx="4026853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Code &amp; Text cells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11611075" y="4527352"/>
            <a:ext cx="4026853" cy="3337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23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Add code to run, or notes to explain.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11039575" y="5051624"/>
            <a:ext cx="419100" cy="419100"/>
          </a:xfrm>
          <a:prstGeom prst="roundRect">
            <a:avLst>
              <a:gd fmla="val 27273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11001475" y="5051624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11611075" y="5051624"/>
            <a:ext cx="324267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Run button ▶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11611075" y="5419924"/>
            <a:ext cx="3242677" cy="3337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23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Click it, or press Shift + Enter.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11039575" y="5944195"/>
            <a:ext cx="419100" cy="419100"/>
          </a:xfrm>
          <a:prstGeom prst="roundRect">
            <a:avLst>
              <a:gd fmla="val 27273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11001475" y="5944195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11611075" y="5944195"/>
            <a:ext cx="3654574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Output appears below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11611075" y="6261696"/>
            <a:ext cx="3654574" cy="3337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23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Results show right under the cell.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11039575" y="6785967"/>
            <a:ext cx="419100" cy="419100"/>
          </a:xfrm>
          <a:prstGeom prst="roundRect">
            <a:avLst>
              <a:gd fmla="val 27273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11001475" y="6785967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11611075" y="6785967"/>
            <a:ext cx="4555312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Connected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11611075" y="7103468"/>
            <a:ext cx="4555312" cy="3337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23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Your notebook is linked to a live machine.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4" name="Google Shape;3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3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14384536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17078027" y="9674225"/>
            <a:ext cx="23842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4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THE ESSENTIALS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Running your first notebook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1047750" y="2415480"/>
            <a:ext cx="5257800" cy="3402310"/>
          </a:xfrm>
          <a:prstGeom prst="roundRect">
            <a:avLst>
              <a:gd fmla="val 559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1371600" y="3775968"/>
            <a:ext cx="507111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Create a notebook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1371600" y="4150618"/>
            <a:ext cx="5071110" cy="3447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4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New notebook → a blank page appears.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6515100" y="2415480"/>
            <a:ext cx="5257800" cy="3402310"/>
          </a:xfrm>
          <a:prstGeom prst="roundRect">
            <a:avLst>
              <a:gd fmla="val 559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6838950" y="3775968"/>
            <a:ext cx="507111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Code vs Text cells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6838950" y="4150618"/>
            <a:ext cx="5071110" cy="3447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4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Code runs; text (markdown) explains.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11982450" y="2415480"/>
            <a:ext cx="5257800" cy="3402310"/>
          </a:xfrm>
          <a:prstGeom prst="roundRect">
            <a:avLst>
              <a:gd fmla="val 559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12306300" y="3775968"/>
            <a:ext cx="507111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Run cells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12306300" y="4150618"/>
            <a:ext cx="5071110" cy="3447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4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Shift + Enter runs and moves on.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1047750" y="6027341"/>
            <a:ext cx="5257800" cy="3402409"/>
          </a:xfrm>
          <a:prstGeom prst="roundRect">
            <a:avLst>
              <a:gd fmla="val 559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1371600" y="7387828"/>
            <a:ext cx="507111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Rename &amp; save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1371600" y="7762479"/>
            <a:ext cx="5071110" cy="3447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4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Click the title; saves to Drive automatically.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6515100" y="6027341"/>
            <a:ext cx="5257800" cy="3402409"/>
          </a:xfrm>
          <a:prstGeom prst="roundRect">
            <a:avLst>
              <a:gd fmla="val 559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6838950" y="7387828"/>
            <a:ext cx="507111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Share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6838950" y="7762479"/>
            <a:ext cx="5071110" cy="3447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4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Send a link, just like a Google Doc.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11982450" y="6027341"/>
            <a:ext cx="5257800" cy="3402409"/>
          </a:xfrm>
          <a:prstGeom prst="roundRect">
            <a:avLst>
              <a:gd fmla="val 5599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12306300" y="7387828"/>
            <a:ext cx="507111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Upload files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12306300" y="7762479"/>
            <a:ext cx="5071110" cy="3447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4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the folder panel to bring in data.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3" name="Google Shape;3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4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14381461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17074952" y="9674225"/>
            <a:ext cx="241498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EE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5"/>
          <p:cNvSpPr/>
          <p:nvPr/>
        </p:nvSpPr>
        <p:spPr>
          <a:xfrm>
            <a:off x="14287500" y="-1524000"/>
            <a:ext cx="5334000" cy="5334000"/>
          </a:xfrm>
          <a:prstGeom prst="ellipse">
            <a:avLst/>
          </a:prstGeom>
          <a:solidFill>
            <a:srgbClr val="CE4A32">
              <a:alpha val="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1047750" y="3271044"/>
            <a:ext cx="2436713" cy="533400"/>
          </a:xfrm>
          <a:prstGeom prst="roundRect">
            <a:avLst>
              <a:gd fmla="val 50000" name="adj"/>
            </a:avLst>
          </a:prstGeom>
          <a:solidFill>
            <a:srgbClr val="CE4A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1295400" y="3471069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1562100" y="3404394"/>
            <a:ext cx="1750913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CODING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1047750" y="4147344"/>
            <a:ext cx="17811750" cy="931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528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Switch to Google Colab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1047750" y="5460206"/>
            <a:ext cx="5817890" cy="882650"/>
          </a:xfrm>
          <a:prstGeom prst="roundRect">
            <a:avLst>
              <a:gd fmla="val 19424" name="adj"/>
            </a:avLst>
          </a:prstGeom>
          <a:solidFill>
            <a:srgbClr val="FFFFFF"/>
          </a:solidFill>
          <a:ln cap="flat" cmpd="sng" w="9525">
            <a:solidFill>
              <a:srgbClr val="DCE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1377950" y="5761831"/>
            <a:ext cx="179831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Notebook 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3203277" y="5739607"/>
            <a:ext cx="19050" cy="323850"/>
          </a:xfrm>
          <a:prstGeom prst="rect">
            <a:avLst/>
          </a:prstGeom>
          <a:solidFill>
            <a:srgbClr val="C9D6C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3412827" y="5714206"/>
            <a:ext cx="3434874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Data Types &amp; Operators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1047750" y="6666706"/>
            <a:ext cx="104775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Open the notebook and follow along — we'll write variables together.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2" name="Google Shape;4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5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14380568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17074059" y="9674225"/>
            <a:ext cx="2423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6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STORING INFORMATION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1047750" y="2110680"/>
            <a:ext cx="130968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A variable is a labelled box: a name that holds a value you can use and change.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1047750" y="4074716"/>
            <a:ext cx="7886700" cy="4191000"/>
          </a:xfrm>
          <a:prstGeom prst="roundRect">
            <a:avLst>
              <a:gd fmla="val 4091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1466850" y="4455716"/>
            <a:ext cx="7285101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6471"/>
              </a:lnSpc>
              <a:spcBef>
                <a:spcPts val="0"/>
              </a:spcBef>
              <a:spcAft>
                <a:spcPts val="0"/>
              </a:spcAft>
              <a:buClr>
                <a:srgbClr val="9FB8AA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name </a:t>
            </a:r>
            <a:r>
              <a:rPr b="0" i="0" lang="en-US" sz="22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0" lang="en-US" sz="2250" u="none" cap="none" strike="noStrike">
                <a:solidFill>
                  <a:srgbClr val="F0C674"/>
                </a:solidFill>
                <a:latin typeface="Courier New"/>
                <a:ea typeface="Courier New"/>
                <a:cs typeface="Courier New"/>
                <a:sym typeface="Courier New"/>
              </a:rPr>
              <a:t>"Asha" </a:t>
            </a:r>
            <a:r>
              <a:rPr b="0" i="0" lang="en-US" sz="22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age </a:t>
            </a:r>
            <a:r>
              <a:rPr b="0" i="0" lang="en-US" sz="22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0" lang="en-US" sz="2250" u="none" cap="none" strike="noStrike">
                <a:solidFill>
                  <a:srgbClr val="A9CBEE"/>
                </a:solidFill>
                <a:latin typeface="Courier New"/>
                <a:ea typeface="Courier New"/>
                <a:cs typeface="Courier New"/>
                <a:sym typeface="Courier New"/>
              </a:rPr>
              <a:t>21 </a:t>
            </a:r>
            <a:r>
              <a:rPr b="0" i="0" lang="en-US" sz="22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marks </a:t>
            </a:r>
            <a:r>
              <a:rPr b="0" i="0" lang="en-US" sz="22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0" lang="en-US" sz="2250" u="none" cap="none" strike="noStrike">
                <a:solidFill>
                  <a:srgbClr val="A9CBEE"/>
                </a:solidFill>
                <a:latin typeface="Courier New"/>
                <a:ea typeface="Courier New"/>
                <a:cs typeface="Courier New"/>
                <a:sym typeface="Courier New"/>
              </a:rPr>
              <a:t>88 </a:t>
            </a:r>
            <a:r>
              <a:rPr b="0" i="0" lang="en-US" sz="22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22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(name, age, marks) </a:t>
            </a:r>
            <a:r>
              <a:rPr b="0" i="0" lang="en-US" sz="2250" u="none" cap="none" strike="noStrike">
                <a:solidFill>
                  <a:srgbClr val="6E8B7A"/>
                </a:solidFill>
                <a:latin typeface="Courier New"/>
                <a:ea typeface="Courier New"/>
                <a:cs typeface="Courier New"/>
                <a:sym typeface="Courier New"/>
              </a:rPr>
              <a:t># Asha 21 88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9353550" y="4533206"/>
            <a:ext cx="1428750" cy="603250"/>
          </a:xfrm>
          <a:prstGeom prst="roundRect">
            <a:avLst>
              <a:gd fmla="val 18947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9505950" y="4704656"/>
            <a:ext cx="1123950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10972800" y="4660206"/>
            <a:ext cx="3429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11430000" y="4491930"/>
            <a:ext cx="5810250" cy="685800"/>
          </a:xfrm>
          <a:prstGeom prst="roundRect">
            <a:avLst>
              <a:gd fmla="val 16667" name="adj"/>
            </a:avLst>
          </a:prstGeom>
          <a:solidFill>
            <a:srgbClr val="F4F7F4"/>
          </a:solidFill>
          <a:ln cap="flat" cmpd="sng" w="19050">
            <a:solidFill>
              <a:srgbClr val="C9D6C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11658600" y="4682430"/>
            <a:ext cx="552735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"Asha"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9353550" y="5428556"/>
            <a:ext cx="1428750" cy="603250"/>
          </a:xfrm>
          <a:prstGeom prst="roundRect">
            <a:avLst>
              <a:gd fmla="val 18947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9505950" y="5600006"/>
            <a:ext cx="1123950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10972800" y="5555556"/>
            <a:ext cx="3429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11430000" y="5387280"/>
            <a:ext cx="5810250" cy="685800"/>
          </a:xfrm>
          <a:prstGeom prst="roundRect">
            <a:avLst>
              <a:gd fmla="val 16667" name="adj"/>
            </a:avLst>
          </a:prstGeom>
          <a:solidFill>
            <a:srgbClr val="F4F7F4"/>
          </a:solidFill>
          <a:ln cap="flat" cmpd="sng" w="19050">
            <a:solidFill>
              <a:srgbClr val="C9D6C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11658600" y="5577780"/>
            <a:ext cx="552735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9353550" y="6323906"/>
            <a:ext cx="1428750" cy="603250"/>
          </a:xfrm>
          <a:prstGeom prst="roundRect">
            <a:avLst>
              <a:gd fmla="val 18947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9505950" y="6495356"/>
            <a:ext cx="1123950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marks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10972800" y="6450906"/>
            <a:ext cx="3429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11430000" y="6282630"/>
            <a:ext cx="5810250" cy="685800"/>
          </a:xfrm>
          <a:prstGeom prst="roundRect">
            <a:avLst>
              <a:gd fmla="val 16667" name="adj"/>
            </a:avLst>
          </a:prstGeom>
          <a:solidFill>
            <a:srgbClr val="F4F7F4"/>
          </a:solidFill>
          <a:ln cap="flat" cmpd="sng" w="19050">
            <a:solidFill>
              <a:srgbClr val="C9D6C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11658600" y="6473130"/>
            <a:ext cx="552735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88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9353550" y="7235130"/>
            <a:ext cx="8123301" cy="6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4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Rule of thumb: letters, numbers &amp; underscores — no spaces, and start with a letter.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2" name="Google Shape;4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6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14377293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17070785" y="9674225"/>
            <a:ext cx="245666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7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THE BUILDING BLOCKS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Data types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1047750" y="2110680"/>
            <a:ext cx="130968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Every value has a type. Check it any time with </a:t>
            </a:r>
            <a:r>
              <a:rPr b="0" i="0" lang="en-US" sz="2250" u="none" cap="none" strike="noStrike">
                <a:solidFill>
                  <a:srgbClr val="0C2E1E"/>
                </a:solidFill>
                <a:highlight>
                  <a:srgbClr val="EAF3EE"/>
                </a:highlight>
                <a:latin typeface="Courier New"/>
                <a:ea typeface="Courier New"/>
                <a:cs typeface="Courier New"/>
                <a:sym typeface="Courier New"/>
              </a:rPr>
              <a:t>type()</a:t>
            </a: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1047750" y="2910780"/>
            <a:ext cx="3890962" cy="6518970"/>
          </a:xfrm>
          <a:prstGeom prst="roundRect">
            <a:avLst>
              <a:gd fmla="val 4896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1333500" y="3234630"/>
            <a:ext cx="365140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1333500" y="3691830"/>
            <a:ext cx="3651409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Whole numbers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/>
          <p:nvPr/>
        </p:nvSpPr>
        <p:spPr>
          <a:xfrm>
            <a:off x="1333500" y="4022031"/>
            <a:ext cx="3651409" cy="3313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Counting, no decimals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1333500" y="8629650"/>
            <a:ext cx="3319463" cy="47625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1466850" y="8724900"/>
            <a:ext cx="315234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4A42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3A4A42"/>
                </a:solidFill>
                <a:latin typeface="Courier New"/>
                <a:ea typeface="Courier New"/>
                <a:cs typeface="Courier New"/>
                <a:sym typeface="Courier New"/>
              </a:rPr>
              <a:t>age = 21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5148263" y="2910780"/>
            <a:ext cx="3890962" cy="6518970"/>
          </a:xfrm>
          <a:prstGeom prst="roundRect">
            <a:avLst>
              <a:gd fmla="val 4896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7"/>
          <p:cNvSpPr/>
          <p:nvPr/>
        </p:nvSpPr>
        <p:spPr>
          <a:xfrm>
            <a:off x="5434013" y="3234630"/>
            <a:ext cx="365140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5434013" y="3691830"/>
            <a:ext cx="3651409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Decimals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5434013" y="4022031"/>
            <a:ext cx="3651409" cy="3313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Money, temperature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5434013" y="8629650"/>
            <a:ext cx="3319463" cy="47625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5567362" y="8724900"/>
            <a:ext cx="315234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4A42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3A4A42"/>
                </a:solidFill>
                <a:latin typeface="Courier New"/>
                <a:ea typeface="Courier New"/>
                <a:cs typeface="Courier New"/>
                <a:sym typeface="Courier New"/>
              </a:rPr>
              <a:t>temp = 36.6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7"/>
          <p:cNvSpPr/>
          <p:nvPr/>
        </p:nvSpPr>
        <p:spPr>
          <a:xfrm>
            <a:off x="9248775" y="2910780"/>
            <a:ext cx="3890962" cy="6518970"/>
          </a:xfrm>
          <a:prstGeom prst="roundRect">
            <a:avLst>
              <a:gd fmla="val 4896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7"/>
          <p:cNvSpPr/>
          <p:nvPr/>
        </p:nvSpPr>
        <p:spPr>
          <a:xfrm>
            <a:off x="9534525" y="3234630"/>
            <a:ext cx="365140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/>
          <p:nvPr/>
        </p:nvSpPr>
        <p:spPr>
          <a:xfrm>
            <a:off x="9534525" y="3691830"/>
            <a:ext cx="3651409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9534525" y="4022031"/>
            <a:ext cx="3651409" cy="3313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Names, words, labels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9534525" y="8629650"/>
            <a:ext cx="3319463" cy="47625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7"/>
          <p:cNvSpPr/>
          <p:nvPr/>
        </p:nvSpPr>
        <p:spPr>
          <a:xfrm>
            <a:off x="9667875" y="8724900"/>
            <a:ext cx="315234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4A42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3A4A42"/>
                </a:solidFill>
                <a:latin typeface="Courier New"/>
                <a:ea typeface="Courier New"/>
                <a:cs typeface="Courier New"/>
                <a:sym typeface="Courier New"/>
              </a:rPr>
              <a:t>name = "Asha"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13349288" y="2910780"/>
            <a:ext cx="3890962" cy="6518970"/>
          </a:xfrm>
          <a:prstGeom prst="roundRect">
            <a:avLst>
              <a:gd fmla="val 4896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13635038" y="3234630"/>
            <a:ext cx="365140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13635038" y="3691830"/>
            <a:ext cx="3651409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True / False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13635038" y="4022031"/>
            <a:ext cx="3651409" cy="3313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Yes/no decisions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13635038" y="8629650"/>
            <a:ext cx="3319463" cy="476250"/>
          </a:xfrm>
          <a:prstGeom prst="roundRect">
            <a:avLst>
              <a:gd fmla="val 16000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13768388" y="8724900"/>
            <a:ext cx="315234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E8F0E9"/>
                </a:solidFill>
                <a:latin typeface="Courier New"/>
                <a:ea typeface="Courier New"/>
                <a:cs typeface="Courier New"/>
                <a:sym typeface="Courier New"/>
              </a:rPr>
              <a:t>passed = True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8" name="Google Shape;4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7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/>
          <p:nvPr/>
        </p:nvSpPr>
        <p:spPr>
          <a:xfrm>
            <a:off x="14394557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17088049" y="9674225"/>
            <a:ext cx="228402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8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WORKING WITH NUMBERS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8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Numbers: integers &amp; floats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8"/>
          <p:cNvSpPr/>
          <p:nvPr/>
        </p:nvSpPr>
        <p:spPr>
          <a:xfrm>
            <a:off x="1047750" y="4310658"/>
            <a:ext cx="7886700" cy="3204766"/>
          </a:xfrm>
          <a:prstGeom prst="roundRect">
            <a:avLst>
              <a:gd fmla="val 535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8"/>
          <p:cNvSpPr/>
          <p:nvPr/>
        </p:nvSpPr>
        <p:spPr>
          <a:xfrm>
            <a:off x="1466850" y="4691658"/>
            <a:ext cx="7285101" cy="24808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7283"/>
              </a:lnSpc>
              <a:spcBef>
                <a:spcPts val="0"/>
              </a:spcBef>
              <a:spcAft>
                <a:spcPts val="0"/>
              </a:spcAft>
              <a:buClr>
                <a:srgbClr val="9FB8AA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age </a:t>
            </a:r>
            <a:r>
              <a:rPr b="0" i="0" lang="en-US" sz="20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0" lang="en-US" sz="2025" u="none" cap="none" strike="noStrike">
                <a:solidFill>
                  <a:srgbClr val="A9CBEE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r>
              <a:rPr b="0" i="0" lang="en-US" sz="2025" u="none" cap="none" strike="noStrike">
                <a:solidFill>
                  <a:srgbClr val="6E8B7A"/>
                </a:solidFill>
                <a:latin typeface="Courier New"/>
                <a:ea typeface="Courier New"/>
                <a:cs typeface="Courier New"/>
                <a:sym typeface="Courier New"/>
              </a:rPr>
              <a:t># int </a:t>
            </a:r>
            <a:r>
              <a:rPr b="0" i="0" lang="en-US" sz="202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price </a:t>
            </a:r>
            <a:r>
              <a:rPr b="0" i="0" lang="en-US" sz="20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0" lang="en-US" sz="2025" u="none" cap="none" strike="noStrike">
                <a:solidFill>
                  <a:srgbClr val="A9CBEE"/>
                </a:solidFill>
                <a:latin typeface="Courier New"/>
                <a:ea typeface="Courier New"/>
                <a:cs typeface="Courier New"/>
                <a:sym typeface="Courier New"/>
              </a:rPr>
              <a:t>99.5</a:t>
            </a:r>
            <a:r>
              <a:rPr b="0" i="0" lang="en-US" sz="2025" u="none" cap="none" strike="noStrike">
                <a:solidFill>
                  <a:srgbClr val="6E8B7A"/>
                </a:solidFill>
                <a:latin typeface="Courier New"/>
                <a:ea typeface="Courier New"/>
                <a:cs typeface="Courier New"/>
                <a:sym typeface="Courier New"/>
              </a:rPr>
              <a:t># float </a:t>
            </a:r>
            <a:r>
              <a:rPr b="0" i="0" lang="en-US" sz="202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20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202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0" i="0" lang="en-US" sz="20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2025" u="none" cap="none" strike="noStrike">
                <a:solidFill>
                  <a:srgbClr val="A9CBEE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20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)) </a:t>
            </a:r>
            <a:r>
              <a:rPr b="0" i="0" lang="en-US" sz="2025" u="none" cap="none" strike="noStrike">
                <a:solidFill>
                  <a:srgbClr val="6E8B7A"/>
                </a:solidFill>
                <a:latin typeface="Courier New"/>
                <a:ea typeface="Courier New"/>
                <a:cs typeface="Courier New"/>
                <a:sym typeface="Courier New"/>
              </a:rPr>
              <a:t># 2.0 </a:t>
            </a:r>
            <a:r>
              <a:rPr b="0" i="0" lang="en-US" sz="202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20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202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z="20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2025" u="none" cap="none" strike="noStrike">
                <a:solidFill>
                  <a:srgbClr val="A9CBEE"/>
                </a:solidFill>
                <a:latin typeface="Courier New"/>
                <a:ea typeface="Courier New"/>
                <a:cs typeface="Courier New"/>
                <a:sym typeface="Courier New"/>
              </a:rPr>
              <a:t>3.99</a:t>
            </a:r>
            <a:r>
              <a:rPr b="0" i="0" lang="en-US" sz="202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r>
              <a:rPr b="0" i="0" lang="en-US" sz="2025" u="none" cap="none" strike="noStrike">
                <a:solidFill>
                  <a:srgbClr val="6E8B7A"/>
                </a:solidFill>
                <a:latin typeface="Courier New"/>
                <a:ea typeface="Courier New"/>
                <a:cs typeface="Courier New"/>
                <a:sym typeface="Courier New"/>
              </a:rPr>
              <a:t># 3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8"/>
          <p:cNvSpPr/>
          <p:nvPr/>
        </p:nvSpPr>
        <p:spPr>
          <a:xfrm>
            <a:off x="9353550" y="3842445"/>
            <a:ext cx="7886700" cy="1247081"/>
          </a:xfrm>
          <a:prstGeom prst="roundRect">
            <a:avLst>
              <a:gd fmla="val 13748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8"/>
          <p:cNvSpPr/>
          <p:nvPr/>
        </p:nvSpPr>
        <p:spPr>
          <a:xfrm>
            <a:off x="9677400" y="4128195"/>
            <a:ext cx="79629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int — whole numbers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8"/>
          <p:cNvSpPr/>
          <p:nvPr/>
        </p:nvSpPr>
        <p:spPr>
          <a:xfrm>
            <a:off x="9677400" y="4483795"/>
            <a:ext cx="796290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Ages, counts, scores. No decimal point.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8"/>
          <p:cNvSpPr/>
          <p:nvPr/>
        </p:nvSpPr>
        <p:spPr>
          <a:xfrm>
            <a:off x="9353550" y="5299075"/>
            <a:ext cx="7886700" cy="1247081"/>
          </a:xfrm>
          <a:prstGeom prst="roundRect">
            <a:avLst>
              <a:gd fmla="val 13748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8"/>
          <p:cNvSpPr/>
          <p:nvPr/>
        </p:nvSpPr>
        <p:spPr>
          <a:xfrm>
            <a:off x="9677400" y="5584825"/>
            <a:ext cx="79629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float — decimals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8"/>
          <p:cNvSpPr/>
          <p:nvPr/>
        </p:nvSpPr>
        <p:spPr>
          <a:xfrm>
            <a:off x="9677400" y="5940425"/>
            <a:ext cx="796290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Prices, temperatures, averages.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8"/>
          <p:cNvSpPr/>
          <p:nvPr/>
        </p:nvSpPr>
        <p:spPr>
          <a:xfrm>
            <a:off x="9353550" y="6755706"/>
            <a:ext cx="7886700" cy="1228031"/>
          </a:xfrm>
          <a:prstGeom prst="roundRect">
            <a:avLst>
              <a:gd fmla="val 13961" name="adj"/>
            </a:avLst>
          </a:prstGeom>
          <a:solidFill>
            <a:srgbClr val="FBEF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8"/>
          <p:cNvSpPr/>
          <p:nvPr/>
        </p:nvSpPr>
        <p:spPr>
          <a:xfrm>
            <a:off x="9353550" y="6755706"/>
            <a:ext cx="57150" cy="1228031"/>
          </a:xfrm>
          <a:prstGeom prst="rect">
            <a:avLst/>
          </a:prstGeom>
          <a:solidFill>
            <a:srgbClr val="D98A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8"/>
          <p:cNvSpPr/>
          <p:nvPr/>
        </p:nvSpPr>
        <p:spPr>
          <a:xfrm>
            <a:off x="9734550" y="7041456"/>
            <a:ext cx="7900035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Watch out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8"/>
          <p:cNvSpPr/>
          <p:nvPr/>
        </p:nvSpPr>
        <p:spPr>
          <a:xfrm>
            <a:off x="9734550" y="7371656"/>
            <a:ext cx="7900035" cy="364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int(3.99) </a:t>
            </a: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gives </a:t>
            </a:r>
            <a:r>
              <a:rPr b="0" i="0" lang="en-US" sz="18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3 </a:t>
            </a: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— it cuts off, it doesn't round.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1" name="Google Shape;4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8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8"/>
          <p:cNvSpPr/>
          <p:nvPr/>
        </p:nvSpPr>
        <p:spPr>
          <a:xfrm>
            <a:off x="14380964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8"/>
          <p:cNvSpPr/>
          <p:nvPr/>
        </p:nvSpPr>
        <p:spPr>
          <a:xfrm>
            <a:off x="17074455" y="9674225"/>
            <a:ext cx="24199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9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WORKING WITH TEXT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Strings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9"/>
          <p:cNvSpPr/>
          <p:nvPr/>
        </p:nvSpPr>
        <p:spPr>
          <a:xfrm>
            <a:off x="1047750" y="4169569"/>
            <a:ext cx="8908386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Each character has a position, starting at 0: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9"/>
          <p:cNvSpPr/>
          <p:nvPr/>
        </p:nvSpPr>
        <p:spPr>
          <a:xfrm>
            <a:off x="1047750" y="4601369"/>
            <a:ext cx="495300" cy="495300"/>
          </a:xfrm>
          <a:prstGeom prst="roundRect">
            <a:avLst>
              <a:gd fmla="val 15385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1009650" y="4601369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/>
          <p:nvPr/>
        </p:nvSpPr>
        <p:spPr>
          <a:xfrm>
            <a:off x="1009650" y="5134769"/>
            <a:ext cx="571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9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8A998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9"/>
          <p:cNvSpPr/>
          <p:nvPr/>
        </p:nvSpPr>
        <p:spPr>
          <a:xfrm>
            <a:off x="1600200" y="4601369"/>
            <a:ext cx="495300" cy="495300"/>
          </a:xfrm>
          <a:prstGeom prst="roundRect">
            <a:avLst>
              <a:gd fmla="val 15385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9"/>
          <p:cNvSpPr/>
          <p:nvPr/>
        </p:nvSpPr>
        <p:spPr>
          <a:xfrm>
            <a:off x="1562100" y="4601369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1562100" y="5134769"/>
            <a:ext cx="571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9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8A998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9"/>
          <p:cNvSpPr/>
          <p:nvPr/>
        </p:nvSpPr>
        <p:spPr>
          <a:xfrm>
            <a:off x="2152650" y="4601369"/>
            <a:ext cx="495300" cy="495300"/>
          </a:xfrm>
          <a:prstGeom prst="roundRect">
            <a:avLst>
              <a:gd fmla="val 15385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9"/>
          <p:cNvSpPr/>
          <p:nvPr/>
        </p:nvSpPr>
        <p:spPr>
          <a:xfrm>
            <a:off x="2114550" y="4601369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9"/>
          <p:cNvSpPr/>
          <p:nvPr/>
        </p:nvSpPr>
        <p:spPr>
          <a:xfrm>
            <a:off x="2114550" y="5134769"/>
            <a:ext cx="571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9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8A998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9"/>
          <p:cNvSpPr/>
          <p:nvPr/>
        </p:nvSpPr>
        <p:spPr>
          <a:xfrm>
            <a:off x="2705100" y="4601369"/>
            <a:ext cx="495300" cy="495300"/>
          </a:xfrm>
          <a:prstGeom prst="roundRect">
            <a:avLst>
              <a:gd fmla="val 15385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9"/>
          <p:cNvSpPr/>
          <p:nvPr/>
        </p:nvSpPr>
        <p:spPr>
          <a:xfrm>
            <a:off x="2667000" y="4601369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9"/>
          <p:cNvSpPr/>
          <p:nvPr/>
        </p:nvSpPr>
        <p:spPr>
          <a:xfrm>
            <a:off x="2667000" y="5134769"/>
            <a:ext cx="571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9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8A998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9"/>
          <p:cNvSpPr/>
          <p:nvPr/>
        </p:nvSpPr>
        <p:spPr>
          <a:xfrm>
            <a:off x="3505200" y="4601369"/>
            <a:ext cx="495300" cy="495300"/>
          </a:xfrm>
          <a:prstGeom prst="roundRect">
            <a:avLst>
              <a:gd fmla="val 15385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9"/>
          <p:cNvSpPr/>
          <p:nvPr/>
        </p:nvSpPr>
        <p:spPr>
          <a:xfrm>
            <a:off x="3467100" y="4601369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9"/>
          <p:cNvSpPr/>
          <p:nvPr/>
        </p:nvSpPr>
        <p:spPr>
          <a:xfrm>
            <a:off x="3467100" y="5134769"/>
            <a:ext cx="571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9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8A998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9"/>
          <p:cNvSpPr/>
          <p:nvPr/>
        </p:nvSpPr>
        <p:spPr>
          <a:xfrm>
            <a:off x="4057650" y="4601369"/>
            <a:ext cx="495300" cy="495300"/>
          </a:xfrm>
          <a:prstGeom prst="roundRect">
            <a:avLst>
              <a:gd fmla="val 15385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9"/>
          <p:cNvSpPr/>
          <p:nvPr/>
        </p:nvSpPr>
        <p:spPr>
          <a:xfrm>
            <a:off x="4019550" y="4601369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9"/>
          <p:cNvSpPr/>
          <p:nvPr/>
        </p:nvSpPr>
        <p:spPr>
          <a:xfrm>
            <a:off x="4019550" y="5134769"/>
            <a:ext cx="571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9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8A998F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9"/>
          <p:cNvSpPr/>
          <p:nvPr/>
        </p:nvSpPr>
        <p:spPr>
          <a:xfrm>
            <a:off x="1047750" y="5611019"/>
            <a:ext cx="8098532" cy="1969294"/>
          </a:xfrm>
          <a:prstGeom prst="roundRect">
            <a:avLst>
              <a:gd fmla="val 8706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9"/>
          <p:cNvSpPr/>
          <p:nvPr/>
        </p:nvSpPr>
        <p:spPr>
          <a:xfrm>
            <a:off x="1409700" y="5934869"/>
            <a:ext cx="7617588" cy="13596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5179"/>
              </a:lnSpc>
              <a:spcBef>
                <a:spcPts val="0"/>
              </a:spcBef>
              <a:spcAft>
                <a:spcPts val="0"/>
              </a:spcAft>
              <a:buClr>
                <a:srgbClr val="9FB8AA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 </a:t>
            </a:r>
            <a:r>
              <a:rPr b="0" i="0" lang="en-US" sz="18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0" lang="en-US" sz="1875" u="none" cap="none" strike="noStrike">
                <a:solidFill>
                  <a:srgbClr val="F0C674"/>
                </a:solidFill>
                <a:latin typeface="Courier New"/>
                <a:ea typeface="Courier New"/>
                <a:cs typeface="Courier New"/>
                <a:sym typeface="Courier New"/>
              </a:rPr>
              <a:t>"Data Science" </a:t>
            </a:r>
            <a:r>
              <a:rPr b="0" i="0" lang="en-US" sz="18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(s[</a:t>
            </a:r>
            <a:r>
              <a:rPr b="0" i="0" lang="en-US" sz="1875" u="none" cap="none" strike="noStrike">
                <a:solidFill>
                  <a:srgbClr val="A9CBEE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r>
              <a:rPr b="0" i="0" lang="en-US" sz="1875" u="none" cap="none" strike="noStrike">
                <a:solidFill>
                  <a:srgbClr val="6E8B7A"/>
                </a:solidFill>
                <a:latin typeface="Courier New"/>
                <a:ea typeface="Courier New"/>
                <a:cs typeface="Courier New"/>
                <a:sym typeface="Courier New"/>
              </a:rPr>
              <a:t># D </a:t>
            </a:r>
            <a:r>
              <a:rPr b="0" i="0" lang="en-US" sz="1875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(s[</a:t>
            </a:r>
            <a:r>
              <a:rPr b="0" i="0" lang="en-US" sz="1875" u="none" cap="none" strike="noStrike">
                <a:solidFill>
                  <a:srgbClr val="A9CBEE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i="0" lang="en-US" sz="1875" u="none" cap="none" strike="noStrike">
                <a:solidFill>
                  <a:srgbClr val="A9CBEE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en-US" sz="1875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r>
              <a:rPr b="0" i="0" lang="en-US" sz="1875" u="none" cap="none" strike="noStrike">
                <a:solidFill>
                  <a:srgbClr val="6E8B7A"/>
                </a:solidFill>
                <a:latin typeface="Courier New"/>
                <a:ea typeface="Courier New"/>
                <a:cs typeface="Courier New"/>
                <a:sym typeface="Courier New"/>
              </a:rPr>
              <a:t>#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9"/>
          <p:cNvSpPr/>
          <p:nvPr/>
        </p:nvSpPr>
        <p:spPr>
          <a:xfrm>
            <a:off x="9527282" y="4055666"/>
            <a:ext cx="7712968" cy="781050"/>
          </a:xfrm>
          <a:prstGeom prst="roundRect">
            <a:avLst>
              <a:gd fmla="val 19512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9"/>
          <p:cNvSpPr/>
          <p:nvPr/>
        </p:nvSpPr>
        <p:spPr>
          <a:xfrm>
            <a:off x="9832082" y="4316016"/>
            <a:ext cx="899319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len(s)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9"/>
          <p:cNvSpPr/>
          <p:nvPr/>
        </p:nvSpPr>
        <p:spPr>
          <a:xfrm>
            <a:off x="15198527" y="4303316"/>
            <a:ext cx="191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length of the text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9"/>
          <p:cNvSpPr/>
          <p:nvPr/>
        </p:nvSpPr>
        <p:spPr>
          <a:xfrm>
            <a:off x="9527282" y="5008166"/>
            <a:ext cx="7712968" cy="781050"/>
          </a:xfrm>
          <a:prstGeom prst="roundRect">
            <a:avLst>
              <a:gd fmla="val 19512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9"/>
          <p:cNvSpPr/>
          <p:nvPr/>
        </p:nvSpPr>
        <p:spPr>
          <a:xfrm>
            <a:off x="9832082" y="5268516"/>
            <a:ext cx="1358146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s.upper()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15948918" y="5255816"/>
            <a:ext cx="106273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ALL CAPS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9"/>
          <p:cNvSpPr/>
          <p:nvPr/>
        </p:nvSpPr>
        <p:spPr>
          <a:xfrm>
            <a:off x="9527282" y="5960666"/>
            <a:ext cx="7712968" cy="781050"/>
          </a:xfrm>
          <a:prstGeom prst="roundRect">
            <a:avLst>
              <a:gd fmla="val 19512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9"/>
          <p:cNvSpPr/>
          <p:nvPr/>
        </p:nvSpPr>
        <p:spPr>
          <a:xfrm>
            <a:off x="9832082" y="6221016"/>
            <a:ext cx="1358146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s.lower()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15647889" y="6208316"/>
            <a:ext cx="14163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all lowercase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9527282" y="6913166"/>
            <a:ext cx="7712968" cy="781050"/>
          </a:xfrm>
          <a:prstGeom prst="roundRect">
            <a:avLst>
              <a:gd fmla="val 19512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9"/>
          <p:cNvSpPr/>
          <p:nvPr/>
        </p:nvSpPr>
        <p:spPr>
          <a:xfrm>
            <a:off x="9832082" y="7173516"/>
            <a:ext cx="1659920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s.replace()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9"/>
          <p:cNvSpPr/>
          <p:nvPr/>
        </p:nvSpPr>
        <p:spPr>
          <a:xfrm>
            <a:off x="15740360" y="7160816"/>
            <a:ext cx="13145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swap words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5" name="Google Shape;5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19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9"/>
          <p:cNvSpPr/>
          <p:nvPr/>
        </p:nvSpPr>
        <p:spPr>
          <a:xfrm>
            <a:off x="14377293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9"/>
          <p:cNvSpPr/>
          <p:nvPr/>
        </p:nvSpPr>
        <p:spPr>
          <a:xfrm>
            <a:off x="17070785" y="9674225"/>
            <a:ext cx="245666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0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YES OR NO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0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Booleans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0"/>
          <p:cNvSpPr/>
          <p:nvPr/>
        </p:nvSpPr>
        <p:spPr>
          <a:xfrm>
            <a:off x="1047750" y="5039916"/>
            <a:ext cx="3829050" cy="1746250"/>
          </a:xfrm>
          <a:prstGeom prst="roundRect">
            <a:avLst>
              <a:gd fmla="val 10909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0"/>
          <p:cNvSpPr/>
          <p:nvPr/>
        </p:nvSpPr>
        <p:spPr>
          <a:xfrm>
            <a:off x="1170622" y="5459016"/>
            <a:ext cx="358330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3300"/>
              <a:buFont typeface="Courier New"/>
              <a:buNone/>
            </a:pPr>
            <a:r>
              <a:rPr b="1" i="0" lang="en-US" sz="330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0"/>
          <p:cNvSpPr/>
          <p:nvPr/>
        </p:nvSpPr>
        <p:spPr>
          <a:xfrm>
            <a:off x="1170622" y="6068616"/>
            <a:ext cx="358330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Yes / on / correct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0"/>
          <p:cNvSpPr/>
          <p:nvPr/>
        </p:nvSpPr>
        <p:spPr>
          <a:xfrm>
            <a:off x="5105400" y="5039916"/>
            <a:ext cx="3829050" cy="1746250"/>
          </a:xfrm>
          <a:prstGeom prst="roundRect">
            <a:avLst>
              <a:gd fmla="val 1090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0"/>
          <p:cNvSpPr/>
          <p:nvPr/>
        </p:nvSpPr>
        <p:spPr>
          <a:xfrm>
            <a:off x="5228273" y="5459016"/>
            <a:ext cx="358330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98F"/>
              </a:buClr>
              <a:buSzPts val="3300"/>
              <a:buFont typeface="Courier New"/>
              <a:buNone/>
            </a:pPr>
            <a:r>
              <a:rPr b="1" i="0" lang="en-US" sz="3300" u="none" cap="none" strike="noStrike">
                <a:solidFill>
                  <a:srgbClr val="8A998F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0"/>
          <p:cNvSpPr/>
          <p:nvPr/>
        </p:nvSpPr>
        <p:spPr>
          <a:xfrm>
            <a:off x="5228273" y="6068616"/>
            <a:ext cx="358330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No / off / wrong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0"/>
          <p:cNvSpPr/>
          <p:nvPr/>
        </p:nvSpPr>
        <p:spPr>
          <a:xfrm>
            <a:off x="9353550" y="4415532"/>
            <a:ext cx="7886700" cy="2097286"/>
          </a:xfrm>
          <a:prstGeom prst="roundRect">
            <a:avLst>
              <a:gd fmla="val 8175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0"/>
          <p:cNvSpPr/>
          <p:nvPr/>
        </p:nvSpPr>
        <p:spPr>
          <a:xfrm>
            <a:off x="9734550" y="4758432"/>
            <a:ext cx="7361301" cy="14495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8409"/>
              </a:lnSpc>
              <a:spcBef>
                <a:spcPts val="0"/>
              </a:spcBef>
              <a:spcAft>
                <a:spcPts val="0"/>
              </a:spcAft>
              <a:buClr>
                <a:srgbClr val="9FB8AA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age </a:t>
            </a:r>
            <a:r>
              <a:rPr b="0" i="0" lang="en-US" sz="19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0" lang="en-US" sz="1950" u="none" cap="none" strike="noStrike">
                <a:solidFill>
                  <a:srgbClr val="A9CBEE"/>
                </a:solidFill>
                <a:latin typeface="Courier New"/>
                <a:ea typeface="Courier New"/>
                <a:cs typeface="Courier New"/>
                <a:sym typeface="Courier New"/>
              </a:rPr>
              <a:t>20 </a:t>
            </a:r>
            <a:r>
              <a:rPr b="0" i="0" lang="en-US" sz="195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is_adult </a:t>
            </a:r>
            <a:r>
              <a:rPr b="0" i="0" lang="en-US" sz="19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= age &gt;= </a:t>
            </a:r>
            <a:r>
              <a:rPr b="0" i="0" lang="en-US" sz="1950" u="none" cap="none" strike="noStrike">
                <a:solidFill>
                  <a:srgbClr val="A9CBEE"/>
                </a:solidFill>
                <a:latin typeface="Courier New"/>
                <a:ea typeface="Courier New"/>
                <a:cs typeface="Courier New"/>
                <a:sym typeface="Courier New"/>
              </a:rPr>
              <a:t>18 </a:t>
            </a:r>
            <a:r>
              <a:rPr b="0" i="0" lang="en-US" sz="19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95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(is_adult) </a:t>
            </a:r>
            <a:r>
              <a:rPr b="0" i="0" lang="en-US" sz="1950" u="none" cap="none" strike="noStrike">
                <a:solidFill>
                  <a:srgbClr val="6E8B7A"/>
                </a:solidFill>
                <a:latin typeface="Courier New"/>
                <a:ea typeface="Courier New"/>
                <a:cs typeface="Courier New"/>
                <a:sym typeface="Courier New"/>
              </a:rPr>
              <a:t># True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0"/>
          <p:cNvSpPr/>
          <p:nvPr/>
        </p:nvSpPr>
        <p:spPr>
          <a:xfrm>
            <a:off x="9353550" y="6741418"/>
            <a:ext cx="8123301" cy="7072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28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Booleans usually come from a comparison — and they'll power decisions ( </a:t>
            </a:r>
            <a:r>
              <a:rPr b="0" i="0" lang="en-US" sz="1800" u="none" cap="none" strike="noStrik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) next session.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5" name="Google Shape;55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0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14320143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0"/>
          <p:cNvSpPr/>
          <p:nvPr/>
        </p:nvSpPr>
        <p:spPr>
          <a:xfrm>
            <a:off x="17013635" y="9674225"/>
            <a:ext cx="302816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EE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1"/>
          <p:cNvSpPr/>
          <p:nvPr/>
        </p:nvSpPr>
        <p:spPr>
          <a:xfrm>
            <a:off x="1047750" y="914400"/>
            <a:ext cx="4160639" cy="425450"/>
          </a:xfrm>
          <a:prstGeom prst="roundRect">
            <a:avLst>
              <a:gd fmla="val 50000" name="adj"/>
            </a:avLst>
          </a:prstGeom>
          <a:solidFill>
            <a:srgbClr val="1F9D5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1"/>
          <p:cNvSpPr/>
          <p:nvPr/>
        </p:nvSpPr>
        <p:spPr>
          <a:xfrm>
            <a:off x="1257300" y="1009650"/>
            <a:ext cx="3866358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EXERCISE · PREDICT THE OUTPUT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1"/>
          <p:cNvSpPr/>
          <p:nvPr/>
        </p:nvSpPr>
        <p:spPr>
          <a:xfrm>
            <a:off x="1047750" y="1587500"/>
            <a:ext cx="17811750" cy="623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22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What will each line print?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1"/>
          <p:cNvSpPr/>
          <p:nvPr/>
        </p:nvSpPr>
        <p:spPr>
          <a:xfrm>
            <a:off x="1047750" y="2325489"/>
            <a:ext cx="17811750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Guess first — then we'll run it together.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1"/>
          <p:cNvSpPr/>
          <p:nvPr/>
        </p:nvSpPr>
        <p:spPr>
          <a:xfrm>
            <a:off x="1047750" y="3055739"/>
            <a:ext cx="7953375" cy="6374011"/>
          </a:xfrm>
          <a:prstGeom prst="roundRect">
            <a:avLst>
              <a:gd fmla="val 2989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1"/>
          <p:cNvSpPr/>
          <p:nvPr/>
        </p:nvSpPr>
        <p:spPr>
          <a:xfrm>
            <a:off x="1485900" y="5718870"/>
            <a:ext cx="778478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2250" u="none" cap="none" strike="noStrike">
                <a:solidFill>
                  <a:srgbClr val="E8F0E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2250" u="none" cap="none" strike="noStrike">
                <a:solidFill>
                  <a:srgbClr val="F0C674"/>
                </a:solidFill>
                <a:latin typeface="Courier New"/>
                <a:ea typeface="Courier New"/>
                <a:cs typeface="Courier New"/>
                <a:sym typeface="Courier New"/>
              </a:rPr>
              <a:t>"10" </a:t>
            </a:r>
            <a:r>
              <a:rPr b="0" i="0" lang="en-US" sz="2250" u="none" cap="none" strike="noStrike">
                <a:solidFill>
                  <a:srgbClr val="E8F0E9"/>
                </a:solidFill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b="0" i="0" lang="en-US" sz="2250" u="none" cap="none" strike="noStrike">
                <a:solidFill>
                  <a:srgbClr val="F0C674"/>
                </a:solidFill>
                <a:latin typeface="Courier New"/>
                <a:ea typeface="Courier New"/>
                <a:cs typeface="Courier New"/>
                <a:sym typeface="Courier New"/>
              </a:rPr>
              <a:t>"10"</a:t>
            </a:r>
            <a:r>
              <a:rPr b="0" i="0" lang="en-US" sz="2250" u="none" cap="none" strike="noStrike">
                <a:solidFill>
                  <a:srgbClr val="E8F0E9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1"/>
          <p:cNvSpPr/>
          <p:nvPr/>
        </p:nvSpPr>
        <p:spPr>
          <a:xfrm>
            <a:off x="1485900" y="6337995"/>
            <a:ext cx="778478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2250" u="none" cap="none" strike="noStrike">
                <a:solidFill>
                  <a:srgbClr val="E8F0E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2250" u="none" cap="none" strike="noStrike">
                <a:solidFill>
                  <a:srgbClr val="A9CBEE"/>
                </a:solidFill>
                <a:latin typeface="Courier New"/>
                <a:ea typeface="Courier New"/>
                <a:cs typeface="Courier New"/>
                <a:sym typeface="Courier New"/>
              </a:rPr>
              <a:t>10 </a:t>
            </a:r>
            <a:r>
              <a:rPr b="0" i="0" lang="en-US" sz="2250" u="none" cap="none" strike="noStrike">
                <a:solidFill>
                  <a:srgbClr val="E8F0E9"/>
                </a:solidFill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b="0" i="0" lang="en-US" sz="2250" u="none" cap="none" strike="noStrike">
                <a:solidFill>
                  <a:srgbClr val="A9CBEE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-US" sz="2250" u="none" cap="none" strike="noStrike">
                <a:solidFill>
                  <a:srgbClr val="E8F0E9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1"/>
          <p:cNvSpPr/>
          <p:nvPr/>
        </p:nvSpPr>
        <p:spPr>
          <a:xfrm>
            <a:off x="9286875" y="3055739"/>
            <a:ext cx="7953375" cy="6374011"/>
          </a:xfrm>
          <a:prstGeom prst="roundRect">
            <a:avLst>
              <a:gd fmla="val 298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1"/>
          <p:cNvSpPr/>
          <p:nvPr/>
        </p:nvSpPr>
        <p:spPr>
          <a:xfrm>
            <a:off x="9725025" y="5183882"/>
            <a:ext cx="77847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98F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8A998F"/>
                </a:solidFill>
                <a:latin typeface="Arial"/>
                <a:ea typeface="Arial"/>
                <a:cs typeface="Arial"/>
                <a:sym typeface="Arial"/>
              </a:rPr>
              <a:t>Text joins together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1"/>
          <p:cNvSpPr/>
          <p:nvPr/>
        </p:nvSpPr>
        <p:spPr>
          <a:xfrm>
            <a:off x="9725025" y="5545832"/>
            <a:ext cx="7784783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850"/>
              <a:buFont typeface="Courier New"/>
              <a:buNone/>
            </a:pPr>
            <a:r>
              <a:rPr b="1" i="0" lang="en-US" sz="28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1010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1"/>
          <p:cNvSpPr/>
          <p:nvPr/>
        </p:nvSpPr>
        <p:spPr>
          <a:xfrm>
            <a:off x="9725025" y="6237982"/>
            <a:ext cx="7077075" cy="9525"/>
          </a:xfrm>
          <a:prstGeom prst="rect">
            <a:avLst/>
          </a:prstGeom>
          <a:solidFill>
            <a:srgbClr val="E2E8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1"/>
          <p:cNvSpPr/>
          <p:nvPr/>
        </p:nvSpPr>
        <p:spPr>
          <a:xfrm>
            <a:off x="9725025" y="6533257"/>
            <a:ext cx="77847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98F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8A998F"/>
                </a:solidFill>
                <a:latin typeface="Arial"/>
                <a:ea typeface="Arial"/>
                <a:cs typeface="Arial"/>
                <a:sym typeface="Arial"/>
              </a:rPr>
              <a:t>Numbers add up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1"/>
          <p:cNvSpPr/>
          <p:nvPr/>
        </p:nvSpPr>
        <p:spPr>
          <a:xfrm>
            <a:off x="9725025" y="6895207"/>
            <a:ext cx="7784783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850"/>
              <a:buFont typeface="Courier New"/>
              <a:buNone/>
            </a:pPr>
            <a:r>
              <a:rPr b="1" i="0" lang="en-US" sz="28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7" name="Google Shape;5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21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1"/>
          <p:cNvSpPr/>
          <p:nvPr/>
        </p:nvSpPr>
        <p:spPr>
          <a:xfrm>
            <a:off x="14387315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1"/>
          <p:cNvSpPr/>
          <p:nvPr/>
        </p:nvSpPr>
        <p:spPr>
          <a:xfrm>
            <a:off x="17080806" y="9674225"/>
            <a:ext cx="23564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4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2"/>
          <p:cNvSpPr/>
          <p:nvPr/>
        </p:nvSpPr>
        <p:spPr>
          <a:xfrm>
            <a:off x="12673807" y="3048000"/>
            <a:ext cx="5127863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33000"/>
              <a:buFont typeface="Arial"/>
              <a:buNone/>
            </a:pPr>
            <a:r>
              <a:rPr b="1" i="0" lang="en-US" sz="330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2"/>
          <p:cNvSpPr/>
          <p:nvPr/>
        </p:nvSpPr>
        <p:spPr>
          <a:xfrm>
            <a:off x="1047750" y="4035822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CHAPTER 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2"/>
          <p:cNvSpPr/>
          <p:nvPr/>
        </p:nvSpPr>
        <p:spPr>
          <a:xfrm>
            <a:off x="1047750" y="4569222"/>
            <a:ext cx="12573000" cy="9707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48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Operators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2"/>
          <p:cNvSpPr/>
          <p:nvPr/>
        </p:nvSpPr>
        <p:spPr>
          <a:xfrm>
            <a:off x="1047750" y="5825728"/>
            <a:ext cx="94297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The verbs of Python — calculate, compare, and decide.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0" name="Google Shape;5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22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2"/>
          <p:cNvSpPr/>
          <p:nvPr/>
        </p:nvSpPr>
        <p:spPr>
          <a:xfrm>
            <a:off x="14338995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2"/>
          <p:cNvSpPr/>
          <p:nvPr/>
        </p:nvSpPr>
        <p:spPr>
          <a:xfrm>
            <a:off x="17032486" y="9674225"/>
            <a:ext cx="283964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3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THREE FAMILIES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3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Python operators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3"/>
          <p:cNvSpPr/>
          <p:nvPr/>
        </p:nvSpPr>
        <p:spPr>
          <a:xfrm>
            <a:off x="1047750" y="2434530"/>
            <a:ext cx="5232400" cy="6995220"/>
          </a:xfrm>
          <a:prstGeom prst="roundRect">
            <a:avLst>
              <a:gd fmla="val 4005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3"/>
          <p:cNvSpPr/>
          <p:nvPr/>
        </p:nvSpPr>
        <p:spPr>
          <a:xfrm>
            <a:off x="1409700" y="2815530"/>
            <a:ext cx="49593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Arithmetic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3"/>
          <p:cNvSpPr/>
          <p:nvPr/>
        </p:nvSpPr>
        <p:spPr>
          <a:xfrm>
            <a:off x="1409700" y="3260031"/>
            <a:ext cx="495935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Do the maths.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3"/>
          <p:cNvSpPr/>
          <p:nvPr/>
        </p:nvSpPr>
        <p:spPr>
          <a:xfrm>
            <a:off x="1409700" y="8413750"/>
            <a:ext cx="4508500" cy="635000"/>
          </a:xfrm>
          <a:prstGeom prst="roundRect">
            <a:avLst>
              <a:gd fmla="val 1500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3"/>
          <p:cNvSpPr/>
          <p:nvPr/>
        </p:nvSpPr>
        <p:spPr>
          <a:xfrm>
            <a:off x="1600200" y="8566150"/>
            <a:ext cx="426275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+ − * / // % **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3"/>
          <p:cNvSpPr/>
          <p:nvPr/>
        </p:nvSpPr>
        <p:spPr>
          <a:xfrm>
            <a:off x="6527800" y="2434530"/>
            <a:ext cx="5232400" cy="6995220"/>
          </a:xfrm>
          <a:prstGeom prst="roundRect">
            <a:avLst>
              <a:gd fmla="val 4005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3"/>
          <p:cNvSpPr/>
          <p:nvPr/>
        </p:nvSpPr>
        <p:spPr>
          <a:xfrm>
            <a:off x="6889750" y="2815530"/>
            <a:ext cx="49593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3"/>
          <p:cNvSpPr/>
          <p:nvPr/>
        </p:nvSpPr>
        <p:spPr>
          <a:xfrm>
            <a:off x="6889750" y="3260031"/>
            <a:ext cx="495935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Ask a question → True/False.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3"/>
          <p:cNvSpPr/>
          <p:nvPr/>
        </p:nvSpPr>
        <p:spPr>
          <a:xfrm>
            <a:off x="6889750" y="8413750"/>
            <a:ext cx="4508500" cy="635000"/>
          </a:xfrm>
          <a:prstGeom prst="roundRect">
            <a:avLst>
              <a:gd fmla="val 1500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3"/>
          <p:cNvSpPr/>
          <p:nvPr/>
        </p:nvSpPr>
        <p:spPr>
          <a:xfrm>
            <a:off x="7080250" y="8566150"/>
            <a:ext cx="426275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== != &gt; &lt; &gt;= &lt;=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3"/>
          <p:cNvSpPr/>
          <p:nvPr/>
        </p:nvSpPr>
        <p:spPr>
          <a:xfrm>
            <a:off x="12007851" y="2434530"/>
            <a:ext cx="5232400" cy="6995220"/>
          </a:xfrm>
          <a:prstGeom prst="roundRect">
            <a:avLst>
              <a:gd fmla="val 4005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3"/>
          <p:cNvSpPr/>
          <p:nvPr/>
        </p:nvSpPr>
        <p:spPr>
          <a:xfrm>
            <a:off x="12369801" y="2815530"/>
            <a:ext cx="49593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3"/>
          <p:cNvSpPr/>
          <p:nvPr/>
        </p:nvSpPr>
        <p:spPr>
          <a:xfrm>
            <a:off x="12369801" y="3260031"/>
            <a:ext cx="495935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Combine conditions.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3"/>
          <p:cNvSpPr/>
          <p:nvPr/>
        </p:nvSpPr>
        <p:spPr>
          <a:xfrm>
            <a:off x="12369801" y="8413750"/>
            <a:ext cx="4508500" cy="635000"/>
          </a:xfrm>
          <a:prstGeom prst="roundRect">
            <a:avLst>
              <a:gd fmla="val 15000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3"/>
          <p:cNvSpPr/>
          <p:nvPr/>
        </p:nvSpPr>
        <p:spPr>
          <a:xfrm>
            <a:off x="12560301" y="8566150"/>
            <a:ext cx="426275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and or not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6" name="Google Shape;6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23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3"/>
          <p:cNvSpPr/>
          <p:nvPr/>
        </p:nvSpPr>
        <p:spPr>
          <a:xfrm>
            <a:off x="14336217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3"/>
          <p:cNvSpPr/>
          <p:nvPr/>
        </p:nvSpPr>
        <p:spPr>
          <a:xfrm>
            <a:off x="17029708" y="9674225"/>
            <a:ext cx="286742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4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DO THE MATHS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4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Arithmetic operators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4"/>
          <p:cNvSpPr/>
          <p:nvPr/>
        </p:nvSpPr>
        <p:spPr>
          <a:xfrm>
            <a:off x="1047750" y="2110680"/>
            <a:ext cx="1781175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a = 17 b = 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4"/>
          <p:cNvSpPr/>
          <p:nvPr/>
        </p:nvSpPr>
        <p:spPr>
          <a:xfrm>
            <a:off x="1047750" y="2809181"/>
            <a:ext cx="5270500" cy="3214985"/>
          </a:xfrm>
          <a:prstGeom prst="roundRect">
            <a:avLst>
              <a:gd fmla="val 4740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4"/>
          <p:cNvSpPr/>
          <p:nvPr/>
        </p:nvSpPr>
        <p:spPr>
          <a:xfrm>
            <a:off x="1333500" y="4235648"/>
            <a:ext cx="609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4"/>
          <p:cNvSpPr/>
          <p:nvPr/>
        </p:nvSpPr>
        <p:spPr>
          <a:xfrm>
            <a:off x="2076450" y="4127699"/>
            <a:ext cx="1496209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4"/>
          <p:cNvSpPr/>
          <p:nvPr/>
        </p:nvSpPr>
        <p:spPr>
          <a:xfrm>
            <a:off x="2076450" y="4400749"/>
            <a:ext cx="149620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a + b → 22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4"/>
          <p:cNvSpPr/>
          <p:nvPr/>
        </p:nvSpPr>
        <p:spPr>
          <a:xfrm>
            <a:off x="6508750" y="2809181"/>
            <a:ext cx="5270500" cy="3214985"/>
          </a:xfrm>
          <a:prstGeom prst="roundRect">
            <a:avLst>
              <a:gd fmla="val 4740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4"/>
          <p:cNvSpPr/>
          <p:nvPr/>
        </p:nvSpPr>
        <p:spPr>
          <a:xfrm>
            <a:off x="6794500" y="4235648"/>
            <a:ext cx="609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4"/>
          <p:cNvSpPr/>
          <p:nvPr/>
        </p:nvSpPr>
        <p:spPr>
          <a:xfrm>
            <a:off x="7537450" y="4127699"/>
            <a:ext cx="1496209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Subtract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4"/>
          <p:cNvSpPr/>
          <p:nvPr/>
        </p:nvSpPr>
        <p:spPr>
          <a:xfrm>
            <a:off x="7537450" y="4400749"/>
            <a:ext cx="149620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a − b → 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4"/>
          <p:cNvSpPr/>
          <p:nvPr/>
        </p:nvSpPr>
        <p:spPr>
          <a:xfrm>
            <a:off x="11969751" y="2809181"/>
            <a:ext cx="5270500" cy="3214985"/>
          </a:xfrm>
          <a:prstGeom prst="roundRect">
            <a:avLst>
              <a:gd fmla="val 4740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4"/>
          <p:cNvSpPr/>
          <p:nvPr/>
        </p:nvSpPr>
        <p:spPr>
          <a:xfrm>
            <a:off x="12255501" y="4235648"/>
            <a:ext cx="609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4"/>
          <p:cNvSpPr/>
          <p:nvPr/>
        </p:nvSpPr>
        <p:spPr>
          <a:xfrm>
            <a:off x="12998451" y="4127699"/>
            <a:ext cx="1496209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Multiply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4"/>
          <p:cNvSpPr/>
          <p:nvPr/>
        </p:nvSpPr>
        <p:spPr>
          <a:xfrm>
            <a:off x="12998451" y="4400749"/>
            <a:ext cx="149620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a * b → 85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4"/>
          <p:cNvSpPr/>
          <p:nvPr/>
        </p:nvSpPr>
        <p:spPr>
          <a:xfrm>
            <a:off x="1047750" y="6214666"/>
            <a:ext cx="5270500" cy="3215085"/>
          </a:xfrm>
          <a:prstGeom prst="roundRect">
            <a:avLst>
              <a:gd fmla="val 4740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4"/>
          <p:cNvSpPr/>
          <p:nvPr/>
        </p:nvSpPr>
        <p:spPr>
          <a:xfrm>
            <a:off x="1333500" y="7641233"/>
            <a:ext cx="609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4"/>
          <p:cNvSpPr/>
          <p:nvPr/>
        </p:nvSpPr>
        <p:spPr>
          <a:xfrm>
            <a:off x="2076450" y="7533283"/>
            <a:ext cx="1647041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Divide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4"/>
          <p:cNvSpPr/>
          <p:nvPr/>
        </p:nvSpPr>
        <p:spPr>
          <a:xfrm>
            <a:off x="2076450" y="7806333"/>
            <a:ext cx="164704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a / b → 3.4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4"/>
          <p:cNvSpPr/>
          <p:nvPr/>
        </p:nvSpPr>
        <p:spPr>
          <a:xfrm>
            <a:off x="6508750" y="6214666"/>
            <a:ext cx="5270500" cy="3215085"/>
          </a:xfrm>
          <a:prstGeom prst="roundRect">
            <a:avLst>
              <a:gd fmla="val 474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4"/>
          <p:cNvSpPr/>
          <p:nvPr/>
        </p:nvSpPr>
        <p:spPr>
          <a:xfrm>
            <a:off x="6794500" y="7650758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//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4"/>
          <p:cNvSpPr/>
          <p:nvPr/>
        </p:nvSpPr>
        <p:spPr>
          <a:xfrm>
            <a:off x="7537450" y="7533283"/>
            <a:ext cx="1496209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Floor divide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4"/>
          <p:cNvSpPr/>
          <p:nvPr/>
        </p:nvSpPr>
        <p:spPr>
          <a:xfrm>
            <a:off x="7537450" y="7806333"/>
            <a:ext cx="149620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a // b →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4"/>
          <p:cNvSpPr/>
          <p:nvPr/>
        </p:nvSpPr>
        <p:spPr>
          <a:xfrm>
            <a:off x="11969751" y="6214666"/>
            <a:ext cx="5270500" cy="3215085"/>
          </a:xfrm>
          <a:prstGeom prst="roundRect">
            <a:avLst>
              <a:gd fmla="val 474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4"/>
          <p:cNvSpPr/>
          <p:nvPr/>
        </p:nvSpPr>
        <p:spPr>
          <a:xfrm>
            <a:off x="12255501" y="7650758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4"/>
          <p:cNvSpPr/>
          <p:nvPr/>
        </p:nvSpPr>
        <p:spPr>
          <a:xfrm>
            <a:off x="12998451" y="7533283"/>
            <a:ext cx="1345267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Remainder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4"/>
          <p:cNvSpPr/>
          <p:nvPr/>
        </p:nvSpPr>
        <p:spPr>
          <a:xfrm>
            <a:off x="12998451" y="7806333"/>
            <a:ext cx="134526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a % b →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2" name="Google Shape;6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24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4"/>
          <p:cNvSpPr/>
          <p:nvPr/>
        </p:nvSpPr>
        <p:spPr>
          <a:xfrm>
            <a:off x="14336217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4"/>
          <p:cNvSpPr/>
          <p:nvPr/>
        </p:nvSpPr>
        <p:spPr>
          <a:xfrm>
            <a:off x="17029708" y="9674225"/>
            <a:ext cx="286742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5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ASK A QUESTION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5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Comparison operators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5"/>
          <p:cNvSpPr/>
          <p:nvPr/>
        </p:nvSpPr>
        <p:spPr>
          <a:xfrm>
            <a:off x="1047750" y="4169966"/>
            <a:ext cx="4055368" cy="1035050"/>
          </a:xfrm>
          <a:prstGeom prst="roundRect">
            <a:avLst>
              <a:gd fmla="val 1288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5"/>
          <p:cNvSpPr/>
          <p:nvPr/>
        </p:nvSpPr>
        <p:spPr>
          <a:xfrm>
            <a:off x="1295400" y="4379516"/>
            <a:ext cx="3963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5"/>
          <p:cNvSpPr/>
          <p:nvPr/>
        </p:nvSpPr>
        <p:spPr>
          <a:xfrm>
            <a:off x="1295400" y="4722416"/>
            <a:ext cx="3916075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equal to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5"/>
          <p:cNvSpPr/>
          <p:nvPr/>
        </p:nvSpPr>
        <p:spPr>
          <a:xfrm>
            <a:off x="5274568" y="4169966"/>
            <a:ext cx="4055368" cy="1035050"/>
          </a:xfrm>
          <a:prstGeom prst="roundRect">
            <a:avLst>
              <a:gd fmla="val 1288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5"/>
          <p:cNvSpPr/>
          <p:nvPr/>
        </p:nvSpPr>
        <p:spPr>
          <a:xfrm>
            <a:off x="5522218" y="4379516"/>
            <a:ext cx="3963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!=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5"/>
          <p:cNvSpPr/>
          <p:nvPr/>
        </p:nvSpPr>
        <p:spPr>
          <a:xfrm>
            <a:off x="5522218" y="4722416"/>
            <a:ext cx="3916075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not equal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5"/>
          <p:cNvSpPr/>
          <p:nvPr/>
        </p:nvSpPr>
        <p:spPr>
          <a:xfrm>
            <a:off x="1047750" y="5376466"/>
            <a:ext cx="4055368" cy="1035050"/>
          </a:xfrm>
          <a:prstGeom prst="roundRect">
            <a:avLst>
              <a:gd fmla="val 1288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5"/>
          <p:cNvSpPr/>
          <p:nvPr/>
        </p:nvSpPr>
        <p:spPr>
          <a:xfrm>
            <a:off x="1295400" y="5586016"/>
            <a:ext cx="2363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5"/>
          <p:cNvSpPr/>
          <p:nvPr/>
        </p:nvSpPr>
        <p:spPr>
          <a:xfrm>
            <a:off x="1295400" y="5928916"/>
            <a:ext cx="3916075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greater than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5"/>
          <p:cNvSpPr/>
          <p:nvPr/>
        </p:nvSpPr>
        <p:spPr>
          <a:xfrm>
            <a:off x="5274568" y="5376466"/>
            <a:ext cx="4055368" cy="1035050"/>
          </a:xfrm>
          <a:prstGeom prst="roundRect">
            <a:avLst>
              <a:gd fmla="val 1288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5"/>
          <p:cNvSpPr/>
          <p:nvPr/>
        </p:nvSpPr>
        <p:spPr>
          <a:xfrm>
            <a:off x="5522218" y="5586016"/>
            <a:ext cx="2363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5"/>
          <p:cNvSpPr/>
          <p:nvPr/>
        </p:nvSpPr>
        <p:spPr>
          <a:xfrm>
            <a:off x="5522218" y="5928916"/>
            <a:ext cx="3916075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less than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5"/>
          <p:cNvSpPr/>
          <p:nvPr/>
        </p:nvSpPr>
        <p:spPr>
          <a:xfrm>
            <a:off x="1047750" y="6582966"/>
            <a:ext cx="4055368" cy="1035050"/>
          </a:xfrm>
          <a:prstGeom prst="roundRect">
            <a:avLst>
              <a:gd fmla="val 1288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5"/>
          <p:cNvSpPr/>
          <p:nvPr/>
        </p:nvSpPr>
        <p:spPr>
          <a:xfrm>
            <a:off x="1295400" y="6792516"/>
            <a:ext cx="3963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&gt;=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5"/>
          <p:cNvSpPr/>
          <p:nvPr/>
        </p:nvSpPr>
        <p:spPr>
          <a:xfrm>
            <a:off x="1295400" y="7135416"/>
            <a:ext cx="3916075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greater or equal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5"/>
          <p:cNvSpPr/>
          <p:nvPr/>
        </p:nvSpPr>
        <p:spPr>
          <a:xfrm>
            <a:off x="5274568" y="6582966"/>
            <a:ext cx="4055368" cy="1035050"/>
          </a:xfrm>
          <a:prstGeom prst="roundRect">
            <a:avLst>
              <a:gd fmla="val 12883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5"/>
          <p:cNvSpPr/>
          <p:nvPr/>
        </p:nvSpPr>
        <p:spPr>
          <a:xfrm>
            <a:off x="5522218" y="6792516"/>
            <a:ext cx="3963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5"/>
          <p:cNvSpPr/>
          <p:nvPr/>
        </p:nvSpPr>
        <p:spPr>
          <a:xfrm>
            <a:off x="5522218" y="7135416"/>
            <a:ext cx="3916075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less or equal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5"/>
          <p:cNvSpPr/>
          <p:nvPr/>
        </p:nvSpPr>
        <p:spPr>
          <a:xfrm>
            <a:off x="9710936" y="4264025"/>
            <a:ext cx="7529314" cy="3259931"/>
          </a:xfrm>
          <a:prstGeom prst="roundRect">
            <a:avLst>
              <a:gd fmla="val 5844" name="adj"/>
            </a:avLst>
          </a:prstGeom>
          <a:solidFill>
            <a:srgbClr val="FBEF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5"/>
          <p:cNvSpPr/>
          <p:nvPr/>
        </p:nvSpPr>
        <p:spPr>
          <a:xfrm>
            <a:off x="9710936" y="4264025"/>
            <a:ext cx="57150" cy="3259931"/>
          </a:xfrm>
          <a:prstGeom prst="rect">
            <a:avLst/>
          </a:prstGeom>
          <a:solidFill>
            <a:srgbClr val="D98A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5"/>
          <p:cNvSpPr/>
          <p:nvPr/>
        </p:nvSpPr>
        <p:spPr>
          <a:xfrm>
            <a:off x="10187186" y="4645025"/>
            <a:ext cx="7297361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The #1 beginner trap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5"/>
          <p:cNvSpPr/>
          <p:nvPr/>
        </p:nvSpPr>
        <p:spPr>
          <a:xfrm>
            <a:off x="10187186" y="5095875"/>
            <a:ext cx="6832983" cy="9802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9545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0" lang="en-US" sz="19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assigns a value </a:t>
            </a:r>
            <a:r>
              <a:rPr b="1" i="0" lang="en-US" sz="19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== </a:t>
            </a:r>
            <a:r>
              <a:rPr b="0" i="0" lang="en-US" sz="19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checks if equal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5"/>
          <p:cNvSpPr/>
          <p:nvPr/>
        </p:nvSpPr>
        <p:spPr>
          <a:xfrm>
            <a:off x="10187186" y="6228556"/>
            <a:ext cx="6633964" cy="914400"/>
          </a:xfrm>
          <a:prstGeom prst="roundRect">
            <a:avLst>
              <a:gd fmla="val 104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5"/>
          <p:cNvSpPr/>
          <p:nvPr/>
        </p:nvSpPr>
        <p:spPr>
          <a:xfrm>
            <a:off x="10377686" y="6380956"/>
            <a:ext cx="645198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4A4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A4A4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marks = 90 </a:t>
            </a:r>
            <a:r>
              <a:rPr b="0" i="0" lang="en-US" sz="1800" u="none" cap="none" strike="noStrike">
                <a:solidFill>
                  <a:srgbClr val="8A998F"/>
                </a:solidFill>
                <a:latin typeface="Courier New"/>
                <a:ea typeface="Courier New"/>
                <a:cs typeface="Courier New"/>
                <a:sym typeface="Courier New"/>
              </a:rPr>
              <a:t># set </a:t>
            </a:r>
            <a:r>
              <a:rPr b="0" i="0" lang="en-US" sz="1800" u="none" cap="none" strike="noStrike">
                <a:solidFill>
                  <a:srgbClr val="3A4A4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marks == 90 </a:t>
            </a:r>
            <a:r>
              <a:rPr b="0" i="0" lang="en-US" sz="1800" u="none" cap="none" strike="noStrike">
                <a:solidFill>
                  <a:srgbClr val="8A998F"/>
                </a:solidFill>
                <a:latin typeface="Courier New"/>
                <a:ea typeface="Courier New"/>
                <a:cs typeface="Courier New"/>
                <a:sym typeface="Courier New"/>
              </a:rPr>
              <a:t># True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7" name="Google Shape;6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25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5"/>
          <p:cNvSpPr/>
          <p:nvPr/>
        </p:nvSpPr>
        <p:spPr>
          <a:xfrm>
            <a:off x="14332248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5"/>
          <p:cNvSpPr/>
          <p:nvPr/>
        </p:nvSpPr>
        <p:spPr>
          <a:xfrm>
            <a:off x="17025740" y="9674225"/>
            <a:ext cx="29071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6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COMBINE CONDITIONS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6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Logical operators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6"/>
          <p:cNvSpPr/>
          <p:nvPr/>
        </p:nvSpPr>
        <p:spPr>
          <a:xfrm>
            <a:off x="1047750" y="2396430"/>
            <a:ext cx="5232400" cy="6042720"/>
          </a:xfrm>
          <a:prstGeom prst="roundRect">
            <a:avLst>
              <a:gd fmla="val 4005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6"/>
          <p:cNvSpPr/>
          <p:nvPr/>
        </p:nvSpPr>
        <p:spPr>
          <a:xfrm>
            <a:off x="1409700" y="2777430"/>
            <a:ext cx="49593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850"/>
              <a:buFont typeface="Courier New"/>
              <a:buNone/>
            </a:pPr>
            <a:r>
              <a:rPr b="1" i="0" lang="en-US" sz="28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6"/>
          <p:cNvSpPr/>
          <p:nvPr/>
        </p:nvSpPr>
        <p:spPr>
          <a:xfrm>
            <a:off x="1409700" y="3317181"/>
            <a:ext cx="495935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93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True only if </a:t>
            </a:r>
            <a:r>
              <a:rPr b="1" i="0" lang="en-US" sz="18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both </a:t>
            </a:r>
            <a:r>
              <a:rPr b="0" i="0" lang="en-US" sz="18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are true.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6"/>
          <p:cNvSpPr/>
          <p:nvPr/>
        </p:nvSpPr>
        <p:spPr>
          <a:xfrm>
            <a:off x="1409700" y="7232650"/>
            <a:ext cx="4508500" cy="8255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6"/>
          <p:cNvSpPr/>
          <p:nvPr/>
        </p:nvSpPr>
        <p:spPr>
          <a:xfrm>
            <a:off x="1581150" y="7366000"/>
            <a:ext cx="4300855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C2E1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 and False → False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6"/>
          <p:cNvSpPr/>
          <p:nvPr/>
        </p:nvSpPr>
        <p:spPr>
          <a:xfrm>
            <a:off x="6527800" y="2396430"/>
            <a:ext cx="5232400" cy="6042720"/>
          </a:xfrm>
          <a:prstGeom prst="roundRect">
            <a:avLst>
              <a:gd fmla="val 4005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6"/>
          <p:cNvSpPr/>
          <p:nvPr/>
        </p:nvSpPr>
        <p:spPr>
          <a:xfrm>
            <a:off x="6889750" y="2777430"/>
            <a:ext cx="49593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850"/>
              <a:buFont typeface="Courier New"/>
              <a:buNone/>
            </a:pPr>
            <a:r>
              <a:rPr b="1" i="0" lang="en-US" sz="28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or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6"/>
          <p:cNvSpPr/>
          <p:nvPr/>
        </p:nvSpPr>
        <p:spPr>
          <a:xfrm>
            <a:off x="6889750" y="3317181"/>
            <a:ext cx="495935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93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True if </a:t>
            </a:r>
            <a:r>
              <a:rPr b="1" i="0" lang="en-US" sz="18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either </a:t>
            </a:r>
            <a:r>
              <a:rPr b="0" i="0" lang="en-US" sz="187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is true.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6"/>
          <p:cNvSpPr/>
          <p:nvPr/>
        </p:nvSpPr>
        <p:spPr>
          <a:xfrm>
            <a:off x="6889750" y="7232650"/>
            <a:ext cx="4508500" cy="8255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6"/>
          <p:cNvSpPr/>
          <p:nvPr/>
        </p:nvSpPr>
        <p:spPr>
          <a:xfrm>
            <a:off x="7061200" y="7366000"/>
            <a:ext cx="4300855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C2E1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 or False → True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6"/>
          <p:cNvSpPr/>
          <p:nvPr/>
        </p:nvSpPr>
        <p:spPr>
          <a:xfrm>
            <a:off x="12007851" y="2396430"/>
            <a:ext cx="5232400" cy="6042720"/>
          </a:xfrm>
          <a:prstGeom prst="roundRect">
            <a:avLst>
              <a:gd fmla="val 4005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6"/>
          <p:cNvSpPr/>
          <p:nvPr/>
        </p:nvSpPr>
        <p:spPr>
          <a:xfrm>
            <a:off x="12369801" y="2777430"/>
            <a:ext cx="49593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2850"/>
              <a:buFont typeface="Courier New"/>
              <a:buNone/>
            </a:pPr>
            <a:r>
              <a:rPr b="1" i="0" lang="en-US" sz="285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6"/>
          <p:cNvSpPr/>
          <p:nvPr/>
        </p:nvSpPr>
        <p:spPr>
          <a:xfrm>
            <a:off x="12369801" y="3317181"/>
            <a:ext cx="4959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Flips true to false.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6"/>
          <p:cNvSpPr/>
          <p:nvPr/>
        </p:nvSpPr>
        <p:spPr>
          <a:xfrm>
            <a:off x="12369801" y="7232650"/>
            <a:ext cx="4508500" cy="825500"/>
          </a:xfrm>
          <a:prstGeom prst="roundRect">
            <a:avLst>
              <a:gd fmla="val 11538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6"/>
          <p:cNvSpPr/>
          <p:nvPr/>
        </p:nvSpPr>
        <p:spPr>
          <a:xfrm>
            <a:off x="12541251" y="7366000"/>
            <a:ext cx="4300855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E8F0E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not True → False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6"/>
          <p:cNvSpPr/>
          <p:nvPr/>
        </p:nvSpPr>
        <p:spPr>
          <a:xfrm>
            <a:off x="1047750" y="8667750"/>
            <a:ext cx="16192500" cy="762000"/>
          </a:xfrm>
          <a:prstGeom prst="roundRect">
            <a:avLst>
              <a:gd fmla="val 2000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6"/>
          <p:cNvSpPr/>
          <p:nvPr/>
        </p:nvSpPr>
        <p:spPr>
          <a:xfrm>
            <a:off x="1352550" y="8896350"/>
            <a:ext cx="160686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highlight>
                  <a:srgbClr val="EAF3EE"/>
                </a:highlight>
                <a:latin typeface="Courier New"/>
                <a:ea typeface="Courier New"/>
                <a:cs typeface="Courier New"/>
                <a:sym typeface="Courier New"/>
              </a:rPr>
              <a:t>age &gt;= </a:t>
            </a:r>
            <a:r>
              <a:rPr b="0" i="0" lang="en-US" sz="180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18 </a:t>
            </a:r>
            <a:r>
              <a:rPr b="0" i="0" lang="en-US" sz="1800" u="none" cap="none" strike="noStrike">
                <a:solidFill>
                  <a:srgbClr val="0C2E1E"/>
                </a:solidFill>
                <a:highlight>
                  <a:srgbClr val="EAF3EE"/>
                </a:highlight>
                <a:latin typeface="Courier New"/>
                <a:ea typeface="Courier New"/>
                <a:cs typeface="Courier New"/>
                <a:sym typeface="Courier New"/>
              </a:rPr>
              <a:t>and has_id </a:t>
            </a:r>
            <a:r>
              <a:rPr b="0" i="0" lang="en-US" sz="1800" u="none" cap="none" strike="noStrike">
                <a:solidFill>
                  <a:srgbClr val="8A998F"/>
                </a:solidFill>
                <a:latin typeface="Courier New"/>
                <a:ea typeface="Courier New"/>
                <a:cs typeface="Courier New"/>
                <a:sym typeface="Courier New"/>
              </a:rPr>
              <a:t># allowed to enter?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5" name="Google Shape;71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26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6"/>
          <p:cNvSpPr/>
          <p:nvPr/>
        </p:nvSpPr>
        <p:spPr>
          <a:xfrm>
            <a:off x="14328974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6"/>
          <p:cNvSpPr/>
          <p:nvPr/>
        </p:nvSpPr>
        <p:spPr>
          <a:xfrm>
            <a:off x="17022466" y="9674225"/>
            <a:ext cx="29398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7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MORE WITH TEXT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7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String operations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7"/>
          <p:cNvSpPr/>
          <p:nvPr/>
        </p:nvSpPr>
        <p:spPr>
          <a:xfrm>
            <a:off x="1047750" y="4263430"/>
            <a:ext cx="7905750" cy="3261122"/>
          </a:xfrm>
          <a:prstGeom prst="roundRect">
            <a:avLst>
              <a:gd fmla="val 5257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7"/>
          <p:cNvSpPr/>
          <p:nvPr/>
        </p:nvSpPr>
        <p:spPr>
          <a:xfrm>
            <a:off x="1447800" y="4625380"/>
            <a:ext cx="7342823" cy="25753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2439"/>
              </a:lnSpc>
              <a:spcBef>
                <a:spcPts val="0"/>
              </a:spcBef>
              <a:spcAft>
                <a:spcPts val="0"/>
              </a:spcAft>
              <a:buClr>
                <a:srgbClr val="9FB8A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first </a:t>
            </a:r>
            <a:r>
              <a:rPr b="0" i="0" lang="en-US" sz="18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0" lang="en-US" sz="1800" u="none" cap="none" strike="noStrike">
                <a:solidFill>
                  <a:srgbClr val="F0C674"/>
                </a:solidFill>
                <a:latin typeface="Courier New"/>
                <a:ea typeface="Courier New"/>
                <a:cs typeface="Courier New"/>
                <a:sym typeface="Courier New"/>
              </a:rPr>
              <a:t>"Asha" </a:t>
            </a:r>
            <a:r>
              <a:rPr b="0" i="0" lang="en-US" sz="1800" u="none" cap="none" strike="noStrik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city </a:t>
            </a:r>
            <a:r>
              <a:rPr b="0" i="0" lang="en-US" sz="18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0" lang="en-US" sz="1800" u="none" cap="none" strike="noStrike">
                <a:solidFill>
                  <a:srgbClr val="F0C674"/>
                </a:solidFill>
                <a:latin typeface="Courier New"/>
                <a:ea typeface="Courier New"/>
                <a:cs typeface="Courier New"/>
                <a:sym typeface="Courier New"/>
              </a:rPr>
              <a:t>"Delhi" </a:t>
            </a:r>
            <a:r>
              <a:rPr b="0" i="0" lang="en-US" sz="1800" u="none" cap="none" strike="noStrike">
                <a:solidFill>
                  <a:srgbClr val="6E8B7A"/>
                </a:solidFill>
                <a:latin typeface="Courier New"/>
                <a:ea typeface="Courier New"/>
                <a:cs typeface="Courier New"/>
                <a:sym typeface="Courier New"/>
              </a:rPr>
              <a:t># join with an f-string </a:t>
            </a:r>
            <a:r>
              <a:rPr b="0" i="0" lang="en-US" sz="1800" u="none" cap="none" strike="noStrik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0C674"/>
                </a:solidFill>
                <a:latin typeface="Courier New"/>
                <a:ea typeface="Courier New"/>
                <a:cs typeface="Courier New"/>
                <a:sym typeface="Courier New"/>
              </a:rPr>
              <a:t>f"</a:t>
            </a:r>
            <a:r>
              <a:rPr b="0" i="0" lang="en-US" sz="18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{first} </a:t>
            </a:r>
            <a:r>
              <a:rPr b="0" i="0" lang="en-US" sz="1800" u="none" cap="none" strike="noStrike">
                <a:solidFill>
                  <a:srgbClr val="F0C674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i="0" lang="en-US" sz="18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{city}</a:t>
            </a:r>
            <a:r>
              <a:rPr b="0" i="0" lang="en-US" sz="1800" u="none" cap="none" strike="noStrike">
                <a:solidFill>
                  <a:srgbClr val="F0C674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0" i="0" lang="en-US" sz="1800" u="none" cap="none" strike="noStrik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6E8B7A"/>
                </a:solidFill>
                <a:latin typeface="Courier New"/>
                <a:ea typeface="Courier New"/>
                <a:cs typeface="Courier New"/>
                <a:sym typeface="Courier New"/>
              </a:rPr>
              <a:t># Asha from Delhi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7"/>
          <p:cNvSpPr/>
          <p:nvPr/>
        </p:nvSpPr>
        <p:spPr>
          <a:xfrm>
            <a:off x="9334500" y="3827066"/>
            <a:ext cx="7905750" cy="704850"/>
          </a:xfrm>
          <a:prstGeom prst="roundRect">
            <a:avLst>
              <a:gd fmla="val 1891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7"/>
          <p:cNvSpPr/>
          <p:nvPr/>
        </p:nvSpPr>
        <p:spPr>
          <a:xfrm>
            <a:off x="9620250" y="4049316"/>
            <a:ext cx="213420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"/>
          <p:cNvSpPr/>
          <p:nvPr/>
        </p:nvSpPr>
        <p:spPr>
          <a:xfrm>
            <a:off x="15424647" y="4036616"/>
            <a:ext cx="168283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join two strings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7"/>
          <p:cNvSpPr/>
          <p:nvPr/>
        </p:nvSpPr>
        <p:spPr>
          <a:xfrm>
            <a:off x="9334500" y="4684316"/>
            <a:ext cx="7905750" cy="704850"/>
          </a:xfrm>
          <a:prstGeom prst="roundRect">
            <a:avLst>
              <a:gd fmla="val 1891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7"/>
          <p:cNvSpPr/>
          <p:nvPr/>
        </p:nvSpPr>
        <p:spPr>
          <a:xfrm>
            <a:off x="9620250" y="4906566"/>
            <a:ext cx="899319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f"{ }"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7"/>
          <p:cNvSpPr/>
          <p:nvPr/>
        </p:nvSpPr>
        <p:spPr>
          <a:xfrm>
            <a:off x="14879638" y="4893866"/>
            <a:ext cx="228234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drop values into text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7"/>
          <p:cNvSpPr/>
          <p:nvPr/>
        </p:nvSpPr>
        <p:spPr>
          <a:xfrm>
            <a:off x="9334500" y="5541566"/>
            <a:ext cx="7905750" cy="704850"/>
          </a:xfrm>
          <a:prstGeom prst="roundRect">
            <a:avLst>
              <a:gd fmla="val 1891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7"/>
          <p:cNvSpPr/>
          <p:nvPr/>
        </p:nvSpPr>
        <p:spPr>
          <a:xfrm>
            <a:off x="9620250" y="5763816"/>
            <a:ext cx="1173659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.strip()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7"/>
          <p:cNvSpPr/>
          <p:nvPr/>
        </p:nvSpPr>
        <p:spPr>
          <a:xfrm>
            <a:off x="15758517" y="5751116"/>
            <a:ext cx="13155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trim spaces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7"/>
          <p:cNvSpPr/>
          <p:nvPr/>
        </p:nvSpPr>
        <p:spPr>
          <a:xfrm>
            <a:off x="9334500" y="6398816"/>
            <a:ext cx="7905750" cy="704850"/>
          </a:xfrm>
          <a:prstGeom prst="roundRect">
            <a:avLst>
              <a:gd fmla="val 1891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7"/>
          <p:cNvSpPr/>
          <p:nvPr/>
        </p:nvSpPr>
        <p:spPr>
          <a:xfrm>
            <a:off x="9620250" y="6621066"/>
            <a:ext cx="1659920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.split(",")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7"/>
          <p:cNvSpPr/>
          <p:nvPr/>
        </p:nvSpPr>
        <p:spPr>
          <a:xfrm>
            <a:off x="15351919" y="6608366"/>
            <a:ext cx="176283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break into parts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7"/>
          <p:cNvSpPr/>
          <p:nvPr/>
        </p:nvSpPr>
        <p:spPr>
          <a:xfrm>
            <a:off x="9334500" y="7256066"/>
            <a:ext cx="7905750" cy="704850"/>
          </a:xfrm>
          <a:prstGeom prst="roundRect">
            <a:avLst>
              <a:gd fmla="val 1891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7"/>
          <p:cNvSpPr/>
          <p:nvPr/>
        </p:nvSpPr>
        <p:spPr>
          <a:xfrm>
            <a:off x="9620250" y="7478316"/>
            <a:ext cx="1509087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.replace()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7"/>
          <p:cNvSpPr/>
          <p:nvPr/>
        </p:nvSpPr>
        <p:spPr>
          <a:xfrm>
            <a:off x="15759410" y="7465616"/>
            <a:ext cx="13145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swap words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3" name="Google Shape;74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27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7"/>
          <p:cNvSpPr/>
          <p:nvPr/>
        </p:nvSpPr>
        <p:spPr>
          <a:xfrm>
            <a:off x="14349314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7"/>
          <p:cNvSpPr/>
          <p:nvPr/>
        </p:nvSpPr>
        <p:spPr>
          <a:xfrm>
            <a:off x="17042805" y="9674225"/>
            <a:ext cx="27364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EE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28"/>
          <p:cNvSpPr/>
          <p:nvPr/>
        </p:nvSpPr>
        <p:spPr>
          <a:xfrm>
            <a:off x="14287500" y="-1524000"/>
            <a:ext cx="5334000" cy="5334000"/>
          </a:xfrm>
          <a:prstGeom prst="ellipse">
            <a:avLst/>
          </a:prstGeom>
          <a:solidFill>
            <a:srgbClr val="CE4A32">
              <a:alpha val="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8"/>
          <p:cNvSpPr/>
          <p:nvPr/>
        </p:nvSpPr>
        <p:spPr>
          <a:xfrm>
            <a:off x="1047750" y="3271044"/>
            <a:ext cx="2436713" cy="533400"/>
          </a:xfrm>
          <a:prstGeom prst="roundRect">
            <a:avLst>
              <a:gd fmla="val 50000" name="adj"/>
            </a:avLst>
          </a:prstGeom>
          <a:solidFill>
            <a:srgbClr val="CE4A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8"/>
          <p:cNvSpPr/>
          <p:nvPr/>
        </p:nvSpPr>
        <p:spPr>
          <a:xfrm>
            <a:off x="1295400" y="3471069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8"/>
          <p:cNvSpPr/>
          <p:nvPr/>
        </p:nvSpPr>
        <p:spPr>
          <a:xfrm>
            <a:off x="1562100" y="3404394"/>
            <a:ext cx="1750913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CODING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8"/>
          <p:cNvSpPr/>
          <p:nvPr/>
        </p:nvSpPr>
        <p:spPr>
          <a:xfrm>
            <a:off x="1047750" y="4147344"/>
            <a:ext cx="17811750" cy="931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528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Play with text in Colab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8"/>
          <p:cNvSpPr/>
          <p:nvPr/>
        </p:nvSpPr>
        <p:spPr>
          <a:xfrm>
            <a:off x="1047750" y="5460206"/>
            <a:ext cx="3596878" cy="882650"/>
          </a:xfrm>
          <a:prstGeom prst="roundRect">
            <a:avLst>
              <a:gd fmla="val 19424" name="adj"/>
            </a:avLst>
          </a:prstGeom>
          <a:solidFill>
            <a:srgbClr val="FFFFFF"/>
          </a:solidFill>
          <a:ln cap="flat" cmpd="sng" w="9525">
            <a:solidFill>
              <a:srgbClr val="DCE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8"/>
          <p:cNvSpPr/>
          <p:nvPr/>
        </p:nvSpPr>
        <p:spPr>
          <a:xfrm>
            <a:off x="1377950" y="5761831"/>
            <a:ext cx="179831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Notebook 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8"/>
          <p:cNvSpPr/>
          <p:nvPr/>
        </p:nvSpPr>
        <p:spPr>
          <a:xfrm>
            <a:off x="3203277" y="5739607"/>
            <a:ext cx="19050" cy="323850"/>
          </a:xfrm>
          <a:prstGeom prst="rect">
            <a:avLst/>
          </a:prstGeom>
          <a:solidFill>
            <a:srgbClr val="C9D6C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8"/>
          <p:cNvSpPr/>
          <p:nvPr/>
        </p:nvSpPr>
        <p:spPr>
          <a:xfrm>
            <a:off x="3412827" y="5714206"/>
            <a:ext cx="977801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Strings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8"/>
          <p:cNvSpPr/>
          <p:nvPr/>
        </p:nvSpPr>
        <p:spPr>
          <a:xfrm>
            <a:off x="1047750" y="6666706"/>
            <a:ext cx="10477500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Index, slice, clean and split real names and records.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2" name="Google Shape;76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28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8"/>
          <p:cNvSpPr/>
          <p:nvPr/>
        </p:nvSpPr>
        <p:spPr>
          <a:xfrm>
            <a:off x="14335720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8"/>
          <p:cNvSpPr/>
          <p:nvPr/>
        </p:nvSpPr>
        <p:spPr>
          <a:xfrm>
            <a:off x="17029212" y="9674225"/>
            <a:ext cx="287238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29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YOU'RE NOT ALONE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9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Common beginner mistakes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9"/>
          <p:cNvSpPr/>
          <p:nvPr/>
        </p:nvSpPr>
        <p:spPr>
          <a:xfrm>
            <a:off x="1047750" y="2167830"/>
            <a:ext cx="17811750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Everyone hits these. Error messages are hints, not failures.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9"/>
          <p:cNvSpPr/>
          <p:nvPr/>
        </p:nvSpPr>
        <p:spPr>
          <a:xfrm>
            <a:off x="1047750" y="2898081"/>
            <a:ext cx="7991475" cy="3164185"/>
          </a:xfrm>
          <a:prstGeom prst="roundRect">
            <a:avLst>
              <a:gd fmla="val 5418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9"/>
          <p:cNvSpPr/>
          <p:nvPr/>
        </p:nvSpPr>
        <p:spPr>
          <a:xfrm>
            <a:off x="1390650" y="4133156"/>
            <a:ext cx="803624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603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0603F"/>
                </a:solidFill>
                <a:latin typeface="Courier New"/>
                <a:ea typeface="Courier New"/>
                <a:cs typeface="Courier New"/>
                <a:sym typeface="Courier New"/>
              </a:rPr>
              <a:t>score = 90 vs score == 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9"/>
          <p:cNvSpPr/>
          <p:nvPr/>
        </p:nvSpPr>
        <p:spPr>
          <a:xfrm>
            <a:off x="1390650" y="4514156"/>
            <a:ext cx="8036243" cy="351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4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Using </a:t>
            </a:r>
            <a:r>
              <a:rPr b="1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(assign) when you mean </a:t>
            </a:r>
            <a:r>
              <a:rPr b="1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== </a:t>
            </a: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(compare).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9"/>
          <p:cNvSpPr/>
          <p:nvPr/>
        </p:nvSpPr>
        <p:spPr>
          <a:xfrm>
            <a:off x="9248775" y="2898081"/>
            <a:ext cx="7991475" cy="3164185"/>
          </a:xfrm>
          <a:prstGeom prst="roundRect">
            <a:avLst>
              <a:gd fmla="val 5418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9"/>
          <p:cNvSpPr/>
          <p:nvPr/>
        </p:nvSpPr>
        <p:spPr>
          <a:xfrm>
            <a:off x="9591675" y="4133156"/>
            <a:ext cx="803624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603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0603F"/>
                </a:solidFill>
                <a:latin typeface="Courier New"/>
                <a:ea typeface="Courier New"/>
                <a:cs typeface="Courier New"/>
                <a:sym typeface="Courier New"/>
              </a:rPr>
              <a:t>"5" + 5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9"/>
          <p:cNvSpPr/>
          <p:nvPr/>
        </p:nvSpPr>
        <p:spPr>
          <a:xfrm>
            <a:off x="9591675" y="4514156"/>
            <a:ext cx="8036243" cy="351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4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Mixing text and numbers — cast first with </a:t>
            </a:r>
            <a:r>
              <a:rPr b="1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int()</a:t>
            </a: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9"/>
          <p:cNvSpPr/>
          <p:nvPr/>
        </p:nvSpPr>
        <p:spPr>
          <a:xfrm>
            <a:off x="1047750" y="6271816"/>
            <a:ext cx="7991475" cy="3157935"/>
          </a:xfrm>
          <a:prstGeom prst="roundRect">
            <a:avLst>
              <a:gd fmla="val 542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9"/>
          <p:cNvSpPr/>
          <p:nvPr/>
        </p:nvSpPr>
        <p:spPr>
          <a:xfrm>
            <a:off x="1390650" y="7506891"/>
            <a:ext cx="803624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603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0603F"/>
                </a:solidFill>
                <a:latin typeface="Courier New"/>
                <a:ea typeface="Courier New"/>
                <a:cs typeface="Courier New"/>
                <a:sym typeface="Courier New"/>
              </a:rPr>
              <a:t>print(Hello)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9"/>
          <p:cNvSpPr/>
          <p:nvPr/>
        </p:nvSpPr>
        <p:spPr>
          <a:xfrm>
            <a:off x="1390650" y="7887891"/>
            <a:ext cx="8036243" cy="3447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4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Forgetting quotes around text.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9"/>
          <p:cNvSpPr/>
          <p:nvPr/>
        </p:nvSpPr>
        <p:spPr>
          <a:xfrm>
            <a:off x="9248775" y="6271816"/>
            <a:ext cx="7991475" cy="3157935"/>
          </a:xfrm>
          <a:prstGeom prst="roundRect">
            <a:avLst>
              <a:gd fmla="val 542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9"/>
          <p:cNvSpPr/>
          <p:nvPr/>
        </p:nvSpPr>
        <p:spPr>
          <a:xfrm>
            <a:off x="9591675" y="7506891"/>
            <a:ext cx="803624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603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0603F"/>
                </a:solidFill>
                <a:latin typeface="Courier New"/>
                <a:ea typeface="Courier New"/>
                <a:cs typeface="Courier New"/>
                <a:sym typeface="Courier New"/>
              </a:rPr>
              <a:t>Name ≠ 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9"/>
          <p:cNvSpPr/>
          <p:nvPr/>
        </p:nvSpPr>
        <p:spPr>
          <a:xfrm>
            <a:off x="9591675" y="7887891"/>
            <a:ext cx="8036243" cy="3447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4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Python is case-sensitive — spelling must match exactly.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6" name="Google Shape;78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29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9"/>
          <p:cNvSpPr/>
          <p:nvPr/>
        </p:nvSpPr>
        <p:spPr>
          <a:xfrm>
            <a:off x="14330760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9"/>
          <p:cNvSpPr/>
          <p:nvPr/>
        </p:nvSpPr>
        <p:spPr>
          <a:xfrm>
            <a:off x="17024252" y="9674225"/>
            <a:ext cx="292199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EE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0"/>
          <p:cNvSpPr/>
          <p:nvPr/>
        </p:nvSpPr>
        <p:spPr>
          <a:xfrm>
            <a:off x="1047750" y="914400"/>
            <a:ext cx="1482725" cy="425450"/>
          </a:xfrm>
          <a:prstGeom prst="roundRect">
            <a:avLst>
              <a:gd fmla="val 50000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0"/>
          <p:cNvSpPr/>
          <p:nvPr/>
        </p:nvSpPr>
        <p:spPr>
          <a:xfrm>
            <a:off x="1257300" y="1009650"/>
            <a:ext cx="1139825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MINI QUIZ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0"/>
          <p:cNvSpPr/>
          <p:nvPr/>
        </p:nvSpPr>
        <p:spPr>
          <a:xfrm>
            <a:off x="1047750" y="1587500"/>
            <a:ext cx="17811750" cy="623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22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Quick check — answer before the reveal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0"/>
          <p:cNvSpPr/>
          <p:nvPr/>
        </p:nvSpPr>
        <p:spPr>
          <a:xfrm>
            <a:off x="1047750" y="2554089"/>
            <a:ext cx="5232400" cy="6875661"/>
          </a:xfrm>
          <a:prstGeom prst="roundRect">
            <a:avLst>
              <a:gd fmla="val 364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0"/>
          <p:cNvSpPr/>
          <p:nvPr/>
        </p:nvSpPr>
        <p:spPr>
          <a:xfrm>
            <a:off x="1390650" y="2916039"/>
            <a:ext cx="500126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Q1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0"/>
          <p:cNvSpPr/>
          <p:nvPr/>
        </p:nvSpPr>
        <p:spPr>
          <a:xfrm>
            <a:off x="1390650" y="3290689"/>
            <a:ext cx="5001260" cy="391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09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What type is </a:t>
            </a:r>
            <a:r>
              <a:rPr b="0" i="0" lang="en-US" sz="19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"88"</a:t>
            </a:r>
            <a:r>
              <a:rPr b="0" i="0" lang="en-US" sz="19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0"/>
          <p:cNvSpPr/>
          <p:nvPr/>
        </p:nvSpPr>
        <p:spPr>
          <a:xfrm>
            <a:off x="1390650" y="8763000"/>
            <a:ext cx="5001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98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8A998F"/>
                </a:solidFill>
                <a:latin typeface="Courier New"/>
                <a:ea typeface="Courier New"/>
                <a:cs typeface="Courier New"/>
                <a:sym typeface="Courier New"/>
              </a:rPr>
              <a:t>→ str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0"/>
          <p:cNvSpPr/>
          <p:nvPr/>
        </p:nvSpPr>
        <p:spPr>
          <a:xfrm>
            <a:off x="6527800" y="2554089"/>
            <a:ext cx="5232400" cy="6875661"/>
          </a:xfrm>
          <a:prstGeom prst="roundRect">
            <a:avLst>
              <a:gd fmla="val 364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0"/>
          <p:cNvSpPr/>
          <p:nvPr/>
        </p:nvSpPr>
        <p:spPr>
          <a:xfrm>
            <a:off x="6870700" y="2916039"/>
            <a:ext cx="500126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Q2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0"/>
          <p:cNvSpPr/>
          <p:nvPr/>
        </p:nvSpPr>
        <p:spPr>
          <a:xfrm>
            <a:off x="6870700" y="3290689"/>
            <a:ext cx="5001260" cy="391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09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What is </a:t>
            </a:r>
            <a:r>
              <a:rPr b="0" i="0" lang="en-US" sz="19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17 // 5</a:t>
            </a:r>
            <a:r>
              <a:rPr b="0" i="0" lang="en-US" sz="19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0"/>
          <p:cNvSpPr/>
          <p:nvPr/>
        </p:nvSpPr>
        <p:spPr>
          <a:xfrm>
            <a:off x="6870700" y="8763000"/>
            <a:ext cx="5001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98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8A998F"/>
                </a:solidFill>
                <a:latin typeface="Courier New"/>
                <a:ea typeface="Courier New"/>
                <a:cs typeface="Courier New"/>
                <a:sym typeface="Courier New"/>
              </a:rPr>
              <a:t>→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0"/>
          <p:cNvSpPr/>
          <p:nvPr/>
        </p:nvSpPr>
        <p:spPr>
          <a:xfrm>
            <a:off x="12007851" y="2554089"/>
            <a:ext cx="5232400" cy="6875661"/>
          </a:xfrm>
          <a:prstGeom prst="roundRect">
            <a:avLst>
              <a:gd fmla="val 364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0"/>
          <p:cNvSpPr/>
          <p:nvPr/>
        </p:nvSpPr>
        <p:spPr>
          <a:xfrm>
            <a:off x="12350751" y="2916039"/>
            <a:ext cx="500126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Q3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0"/>
          <p:cNvSpPr/>
          <p:nvPr/>
        </p:nvSpPr>
        <p:spPr>
          <a:xfrm>
            <a:off x="12350751" y="3290689"/>
            <a:ext cx="5001260" cy="391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09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0" i="0" lang="en-US" sz="1950" u="none" cap="none" strike="noStrik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True and False </a:t>
            </a:r>
            <a:r>
              <a:rPr b="0" i="0" lang="en-US" sz="195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true?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0"/>
          <p:cNvSpPr/>
          <p:nvPr/>
        </p:nvSpPr>
        <p:spPr>
          <a:xfrm>
            <a:off x="12350751" y="8763000"/>
            <a:ext cx="5001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98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8A998F"/>
                </a:solidFill>
                <a:latin typeface="Courier New"/>
                <a:ea typeface="Courier New"/>
                <a:cs typeface="Courier New"/>
                <a:sym typeface="Courier New"/>
              </a:rPr>
              <a:t>→ False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0" name="Google Shape;81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30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0"/>
          <p:cNvSpPr/>
          <p:nvPr/>
        </p:nvSpPr>
        <p:spPr>
          <a:xfrm>
            <a:off x="14315580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0"/>
          <p:cNvSpPr/>
          <p:nvPr/>
        </p:nvSpPr>
        <p:spPr>
          <a:xfrm>
            <a:off x="17009071" y="9674225"/>
            <a:ext cx="307380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31"/>
          <p:cNvSpPr/>
          <p:nvPr/>
        </p:nvSpPr>
        <p:spPr>
          <a:xfrm>
            <a:off x="1047750" y="933450"/>
            <a:ext cx="2221706" cy="368300"/>
          </a:xfrm>
          <a:prstGeom prst="roundRect">
            <a:avLst>
              <a:gd fmla="val 50000" name="adj"/>
            </a:avLst>
          </a:prstGeom>
          <a:solidFill>
            <a:srgbClr val="1F9D5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1"/>
          <p:cNvSpPr/>
          <p:nvPr/>
        </p:nvSpPr>
        <p:spPr>
          <a:xfrm>
            <a:off x="1238250" y="1009650"/>
            <a:ext cx="1916906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TRY IT YOURSELF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1"/>
          <p:cNvSpPr/>
          <p:nvPr/>
        </p:nvSpPr>
        <p:spPr>
          <a:xfrm>
            <a:off x="3421856" y="914400"/>
            <a:ext cx="4076700" cy="406400"/>
          </a:xfrm>
          <a:prstGeom prst="roundRect">
            <a:avLst>
              <a:gd fmla="val 46875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1"/>
          <p:cNvSpPr/>
          <p:nvPr/>
        </p:nvSpPr>
        <p:spPr>
          <a:xfrm>
            <a:off x="3574256" y="990600"/>
            <a:ext cx="3894201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Notebook 03 · Your First Programs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1"/>
          <p:cNvSpPr/>
          <p:nvPr/>
        </p:nvSpPr>
        <p:spPr>
          <a:xfrm>
            <a:off x="1047750" y="15303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Guided practice — your first drills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1"/>
          <p:cNvSpPr/>
          <p:nvPr/>
        </p:nvSpPr>
        <p:spPr>
          <a:xfrm>
            <a:off x="1047750" y="2498031"/>
            <a:ext cx="5232400" cy="6931720"/>
          </a:xfrm>
          <a:prstGeom prst="roundRect">
            <a:avLst>
              <a:gd fmla="val 3641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1"/>
          <p:cNvSpPr/>
          <p:nvPr/>
        </p:nvSpPr>
        <p:spPr>
          <a:xfrm>
            <a:off x="1390650" y="2859981"/>
            <a:ext cx="500126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Drill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1"/>
          <p:cNvSpPr/>
          <p:nvPr/>
        </p:nvSpPr>
        <p:spPr>
          <a:xfrm>
            <a:off x="1390650" y="3272730"/>
            <a:ext cx="500126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Temperature converter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1"/>
          <p:cNvSpPr/>
          <p:nvPr/>
        </p:nvSpPr>
        <p:spPr>
          <a:xfrm>
            <a:off x="1390650" y="3679131"/>
            <a:ext cx="5001260" cy="3447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4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Turn Fahrenheit into Celsius using arithmetic.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1"/>
          <p:cNvSpPr/>
          <p:nvPr/>
        </p:nvSpPr>
        <p:spPr>
          <a:xfrm>
            <a:off x="1390650" y="8585200"/>
            <a:ext cx="4546600" cy="48260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1"/>
          <p:cNvSpPr/>
          <p:nvPr/>
        </p:nvSpPr>
        <p:spPr>
          <a:xfrm>
            <a:off x="1543050" y="8699500"/>
            <a:ext cx="4378198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4A42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3A4A42"/>
                </a:solidFill>
                <a:latin typeface="Courier New"/>
                <a:ea typeface="Courier New"/>
                <a:cs typeface="Courier New"/>
                <a:sym typeface="Courier New"/>
              </a:rPr>
              <a:t>float · // · /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1"/>
          <p:cNvSpPr/>
          <p:nvPr/>
        </p:nvSpPr>
        <p:spPr>
          <a:xfrm>
            <a:off x="6527800" y="2498031"/>
            <a:ext cx="5232400" cy="6931720"/>
          </a:xfrm>
          <a:prstGeom prst="roundRect">
            <a:avLst>
              <a:gd fmla="val 3641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1"/>
          <p:cNvSpPr/>
          <p:nvPr/>
        </p:nvSpPr>
        <p:spPr>
          <a:xfrm>
            <a:off x="6870700" y="2859981"/>
            <a:ext cx="500126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Drill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1"/>
          <p:cNvSpPr/>
          <p:nvPr/>
        </p:nvSpPr>
        <p:spPr>
          <a:xfrm>
            <a:off x="6870700" y="3272730"/>
            <a:ext cx="500126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Split a bill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1"/>
          <p:cNvSpPr/>
          <p:nvPr/>
        </p:nvSpPr>
        <p:spPr>
          <a:xfrm>
            <a:off x="6870700" y="3679131"/>
            <a:ext cx="4682998" cy="6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4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Add a tip, then divide the total between friends.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1"/>
          <p:cNvSpPr/>
          <p:nvPr/>
        </p:nvSpPr>
        <p:spPr>
          <a:xfrm>
            <a:off x="6870700" y="8585200"/>
            <a:ext cx="4546600" cy="48260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1"/>
          <p:cNvSpPr/>
          <p:nvPr/>
        </p:nvSpPr>
        <p:spPr>
          <a:xfrm>
            <a:off x="7023100" y="8699500"/>
            <a:ext cx="4378198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4A42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3A4A42"/>
                </a:solidFill>
                <a:latin typeface="Courier New"/>
                <a:ea typeface="Courier New"/>
                <a:cs typeface="Courier New"/>
                <a:sym typeface="Courier New"/>
              </a:rPr>
              <a:t>+ · * · /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1"/>
          <p:cNvSpPr/>
          <p:nvPr/>
        </p:nvSpPr>
        <p:spPr>
          <a:xfrm>
            <a:off x="12007851" y="2498031"/>
            <a:ext cx="5232400" cy="6931720"/>
          </a:xfrm>
          <a:prstGeom prst="roundRect">
            <a:avLst>
              <a:gd fmla="val 3641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1"/>
          <p:cNvSpPr/>
          <p:nvPr/>
        </p:nvSpPr>
        <p:spPr>
          <a:xfrm>
            <a:off x="12350751" y="2859981"/>
            <a:ext cx="500126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Drill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1"/>
          <p:cNvSpPr/>
          <p:nvPr/>
        </p:nvSpPr>
        <p:spPr>
          <a:xfrm>
            <a:off x="12350751" y="3272730"/>
            <a:ext cx="500126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username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1"/>
          <p:cNvSpPr/>
          <p:nvPr/>
        </p:nvSpPr>
        <p:spPr>
          <a:xfrm>
            <a:off x="12350751" y="3679131"/>
            <a:ext cx="4682998" cy="6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4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Clean a messy name into initials and a handle.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1"/>
          <p:cNvSpPr/>
          <p:nvPr/>
        </p:nvSpPr>
        <p:spPr>
          <a:xfrm>
            <a:off x="12350751" y="8585200"/>
            <a:ext cx="4546600" cy="482600"/>
          </a:xfrm>
          <a:prstGeom prst="roundRect">
            <a:avLst>
              <a:gd fmla="val 15789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1"/>
          <p:cNvSpPr/>
          <p:nvPr/>
        </p:nvSpPr>
        <p:spPr>
          <a:xfrm>
            <a:off x="12503151" y="8699500"/>
            <a:ext cx="4378198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E8F0E9"/>
                </a:solidFill>
                <a:latin typeface="Courier New"/>
                <a:ea typeface="Courier New"/>
                <a:cs typeface="Courier New"/>
                <a:sym typeface="Courier New"/>
              </a:rPr>
              <a:t>.strip() · .split() · .lower()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2" name="Google Shape;84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31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1"/>
          <p:cNvSpPr/>
          <p:nvPr/>
        </p:nvSpPr>
        <p:spPr>
          <a:xfrm>
            <a:off x="14387612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1"/>
          <p:cNvSpPr/>
          <p:nvPr/>
        </p:nvSpPr>
        <p:spPr>
          <a:xfrm>
            <a:off x="17081104" y="9674225"/>
            <a:ext cx="235347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2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BEFORE NEXT SESSION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2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Your homework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2"/>
          <p:cNvSpPr/>
          <p:nvPr/>
        </p:nvSpPr>
        <p:spPr>
          <a:xfrm>
            <a:off x="1047750" y="2148780"/>
            <a:ext cx="12573000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Just one thing — small and doable. No pressure.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2"/>
          <p:cNvSpPr/>
          <p:nvPr/>
        </p:nvSpPr>
        <p:spPr>
          <a:xfrm>
            <a:off x="1047750" y="2961581"/>
            <a:ext cx="7972425" cy="5293420"/>
          </a:xfrm>
          <a:prstGeom prst="roundRect">
            <a:avLst>
              <a:gd fmla="val 3959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2"/>
          <p:cNvSpPr/>
          <p:nvPr/>
        </p:nvSpPr>
        <p:spPr>
          <a:xfrm>
            <a:off x="1504950" y="4991894"/>
            <a:ext cx="7763828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Finish the three drills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2"/>
          <p:cNvSpPr/>
          <p:nvPr/>
        </p:nvSpPr>
        <p:spPr>
          <a:xfrm>
            <a:off x="1504950" y="5423694"/>
            <a:ext cx="7269766" cy="8389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72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Complete the drills we started in </a:t>
            </a:r>
            <a:r>
              <a:rPr b="1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Notebook 03 </a:t>
            </a:r>
            <a:r>
              <a:rPr b="0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— temperature converter, split a bill, and a username.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2"/>
          <p:cNvSpPr/>
          <p:nvPr/>
        </p:nvSpPr>
        <p:spPr>
          <a:xfrm>
            <a:off x="9267825" y="2961581"/>
            <a:ext cx="7972425" cy="5293420"/>
          </a:xfrm>
          <a:prstGeom prst="roundRect">
            <a:avLst>
              <a:gd fmla="val 3959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2"/>
          <p:cNvSpPr/>
          <p:nvPr/>
        </p:nvSpPr>
        <p:spPr>
          <a:xfrm>
            <a:off x="9725025" y="4991894"/>
            <a:ext cx="7763828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Replay today's examples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2"/>
          <p:cNvSpPr/>
          <p:nvPr/>
        </p:nvSpPr>
        <p:spPr>
          <a:xfrm>
            <a:off x="9725025" y="5423694"/>
            <a:ext cx="7269766" cy="8389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72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Retype the code we ran, then change the numbers and names to see what happens.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2"/>
          <p:cNvSpPr/>
          <p:nvPr/>
        </p:nvSpPr>
        <p:spPr>
          <a:xfrm>
            <a:off x="1047750" y="8502650"/>
            <a:ext cx="16192500" cy="927100"/>
          </a:xfrm>
          <a:prstGeom prst="roundRect">
            <a:avLst>
              <a:gd fmla="val 18493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2"/>
          <p:cNvSpPr/>
          <p:nvPr/>
        </p:nvSpPr>
        <p:spPr>
          <a:xfrm>
            <a:off x="1185863" y="8788400"/>
            <a:ext cx="15916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highlight>
                  <a:srgbClr val="0C2E1E"/>
                </a:highlight>
                <a:latin typeface="Arial"/>
                <a:ea typeface="Arial"/>
                <a:cs typeface="Arial"/>
                <a:sym typeface="Arial"/>
              </a:rPr>
              <a:t>That's it — small steps. </a:t>
            </a:r>
            <a:r>
              <a:rPr b="0" i="0" lang="en-US" sz="2175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Come back curious for Session 2.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2" name="Google Shape;86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32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2"/>
          <p:cNvSpPr/>
          <p:nvPr/>
        </p:nvSpPr>
        <p:spPr>
          <a:xfrm>
            <a:off x="14336217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2"/>
          <p:cNvSpPr/>
          <p:nvPr/>
        </p:nvSpPr>
        <p:spPr>
          <a:xfrm>
            <a:off x="17029708" y="9674225"/>
            <a:ext cx="286742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3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LOOK HOW FAR YOU CAME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3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Session summary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3"/>
          <p:cNvSpPr/>
          <p:nvPr/>
        </p:nvSpPr>
        <p:spPr>
          <a:xfrm>
            <a:off x="1047750" y="2415480"/>
            <a:ext cx="7991475" cy="2833985"/>
          </a:xfrm>
          <a:prstGeom prst="roundRect">
            <a:avLst>
              <a:gd fmla="val 6050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3"/>
          <p:cNvSpPr/>
          <p:nvPr/>
        </p:nvSpPr>
        <p:spPr>
          <a:xfrm>
            <a:off x="1409700" y="3641924"/>
            <a:ext cx="381000" cy="381000"/>
          </a:xfrm>
          <a:prstGeom prst="ellipse">
            <a:avLst/>
          </a:prstGeom>
          <a:solidFill>
            <a:srgbClr val="1F9D5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3"/>
          <p:cNvSpPr/>
          <p:nvPr/>
        </p:nvSpPr>
        <p:spPr>
          <a:xfrm>
            <a:off x="1371600" y="3641924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3"/>
          <p:cNvSpPr/>
          <p:nvPr/>
        </p:nvSpPr>
        <p:spPr>
          <a:xfrm>
            <a:off x="1981200" y="3658890"/>
            <a:ext cx="3555147" cy="3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3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Ran Python in Google Colab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3"/>
          <p:cNvSpPr/>
          <p:nvPr/>
        </p:nvSpPr>
        <p:spPr>
          <a:xfrm>
            <a:off x="9248775" y="2415480"/>
            <a:ext cx="7991475" cy="2833985"/>
          </a:xfrm>
          <a:prstGeom prst="roundRect">
            <a:avLst>
              <a:gd fmla="val 6050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3"/>
          <p:cNvSpPr/>
          <p:nvPr/>
        </p:nvSpPr>
        <p:spPr>
          <a:xfrm>
            <a:off x="9610725" y="3641924"/>
            <a:ext cx="381000" cy="381000"/>
          </a:xfrm>
          <a:prstGeom prst="ellipse">
            <a:avLst/>
          </a:prstGeom>
          <a:solidFill>
            <a:srgbClr val="1F9D5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3"/>
          <p:cNvSpPr/>
          <p:nvPr/>
        </p:nvSpPr>
        <p:spPr>
          <a:xfrm>
            <a:off x="9572625" y="3641924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3"/>
          <p:cNvSpPr/>
          <p:nvPr/>
        </p:nvSpPr>
        <p:spPr>
          <a:xfrm>
            <a:off x="10182225" y="3658890"/>
            <a:ext cx="3242896" cy="3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3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Stored values in variables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3"/>
          <p:cNvSpPr/>
          <p:nvPr/>
        </p:nvSpPr>
        <p:spPr>
          <a:xfrm>
            <a:off x="1047750" y="5459016"/>
            <a:ext cx="7991475" cy="2834085"/>
          </a:xfrm>
          <a:prstGeom prst="roundRect">
            <a:avLst>
              <a:gd fmla="val 6050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3"/>
          <p:cNvSpPr/>
          <p:nvPr/>
        </p:nvSpPr>
        <p:spPr>
          <a:xfrm>
            <a:off x="1409700" y="6685558"/>
            <a:ext cx="381000" cy="381000"/>
          </a:xfrm>
          <a:prstGeom prst="ellipse">
            <a:avLst/>
          </a:prstGeom>
          <a:solidFill>
            <a:srgbClr val="1F9D5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3"/>
          <p:cNvSpPr/>
          <p:nvPr/>
        </p:nvSpPr>
        <p:spPr>
          <a:xfrm>
            <a:off x="1371600" y="6685558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3"/>
          <p:cNvSpPr/>
          <p:nvPr/>
        </p:nvSpPr>
        <p:spPr>
          <a:xfrm>
            <a:off x="1981200" y="6702425"/>
            <a:ext cx="3153182" cy="3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3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Used int, float, str &amp; bool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3"/>
          <p:cNvSpPr/>
          <p:nvPr/>
        </p:nvSpPr>
        <p:spPr>
          <a:xfrm>
            <a:off x="9248775" y="5459016"/>
            <a:ext cx="7991475" cy="2834085"/>
          </a:xfrm>
          <a:prstGeom prst="roundRect">
            <a:avLst>
              <a:gd fmla="val 6050" name="adj"/>
            </a:avLst>
          </a:prstGeom>
          <a:solidFill>
            <a:srgbClr val="F4F7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3"/>
          <p:cNvSpPr/>
          <p:nvPr/>
        </p:nvSpPr>
        <p:spPr>
          <a:xfrm>
            <a:off x="9610725" y="6685558"/>
            <a:ext cx="381000" cy="381000"/>
          </a:xfrm>
          <a:prstGeom prst="ellipse">
            <a:avLst/>
          </a:prstGeom>
          <a:solidFill>
            <a:srgbClr val="1F9D5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3"/>
          <p:cNvSpPr/>
          <p:nvPr/>
        </p:nvSpPr>
        <p:spPr>
          <a:xfrm>
            <a:off x="9572625" y="6685558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3"/>
          <p:cNvSpPr/>
          <p:nvPr/>
        </p:nvSpPr>
        <p:spPr>
          <a:xfrm>
            <a:off x="10182225" y="6702425"/>
            <a:ext cx="4321969" cy="3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3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Applied all three operator families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3"/>
          <p:cNvSpPr/>
          <p:nvPr/>
        </p:nvSpPr>
        <p:spPr>
          <a:xfrm>
            <a:off x="1047750" y="8502650"/>
            <a:ext cx="16192500" cy="927100"/>
          </a:xfrm>
          <a:prstGeom prst="roundRect">
            <a:avLst>
              <a:gd fmla="val 18493" name="adj"/>
            </a:avLst>
          </a:prstGeom>
          <a:solidFill>
            <a:srgbClr val="0C2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3"/>
          <p:cNvSpPr/>
          <p:nvPr/>
        </p:nvSpPr>
        <p:spPr>
          <a:xfrm>
            <a:off x="1185863" y="8788400"/>
            <a:ext cx="15916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highlight>
                  <a:srgbClr val="0C2E1E"/>
                </a:highlight>
                <a:latin typeface="Arial"/>
                <a:ea typeface="Arial"/>
                <a:cs typeface="Arial"/>
                <a:sym typeface="Arial"/>
              </a:rPr>
              <a:t>You wrote real Python today — starting from zero. </a:t>
            </a:r>
            <a:r>
              <a:rPr b="0" i="0" lang="en-US" sz="2175" u="none" cap="none" strike="noStrik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That's the hard part, done.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1" name="Google Shape;89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33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3"/>
          <p:cNvSpPr/>
          <p:nvPr/>
        </p:nvSpPr>
        <p:spPr>
          <a:xfrm>
            <a:off x="14333538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3"/>
          <p:cNvSpPr/>
          <p:nvPr/>
        </p:nvSpPr>
        <p:spPr>
          <a:xfrm>
            <a:off x="17027029" y="9674225"/>
            <a:ext cx="28942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4"/>
        </a:solidFill>
      </p:bgPr>
    </p:bg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4"/>
          <p:cNvSpPr/>
          <p:nvPr/>
        </p:nvSpPr>
        <p:spPr>
          <a:xfrm>
            <a:off x="14097000" y="6477000"/>
            <a:ext cx="5715000" cy="5715000"/>
          </a:xfrm>
          <a:prstGeom prst="ellipse">
            <a:avLst/>
          </a:prstGeom>
          <a:solidFill>
            <a:srgbClr val="CE4A32">
              <a:alpha val="588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1" name="Google Shape;90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533400"/>
            <a:ext cx="3669552" cy="2428974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34"/>
          <p:cNvSpPr/>
          <p:nvPr/>
        </p:nvSpPr>
        <p:spPr>
          <a:xfrm>
            <a:off x="1047750" y="3057624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NEXT UP · SESSION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4"/>
          <p:cNvSpPr/>
          <p:nvPr/>
        </p:nvSpPr>
        <p:spPr>
          <a:xfrm>
            <a:off x="1047750" y="3591024"/>
            <a:ext cx="13096875" cy="9014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4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Collections &amp; Lambda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4"/>
          <p:cNvSpPr/>
          <p:nvPr/>
        </p:nvSpPr>
        <p:spPr>
          <a:xfrm>
            <a:off x="1047750" y="4759127"/>
            <a:ext cx="1030128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Lists, tuples, sets and dictionaries — then compact logic with comprehensions and lambda.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4"/>
          <p:cNvSpPr/>
          <p:nvPr/>
        </p:nvSpPr>
        <p:spPr>
          <a:xfrm>
            <a:off x="1047750" y="5978327"/>
            <a:ext cx="2549228" cy="565150"/>
          </a:xfrm>
          <a:prstGeom prst="roundRect">
            <a:avLst>
              <a:gd fmla="val 5000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4"/>
          <p:cNvSpPr/>
          <p:nvPr/>
        </p:nvSpPr>
        <p:spPr>
          <a:xfrm>
            <a:off x="1314450" y="6111677"/>
            <a:ext cx="2092304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Lists &amp; dictionaries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4"/>
          <p:cNvSpPr/>
          <p:nvPr/>
        </p:nvSpPr>
        <p:spPr>
          <a:xfrm>
            <a:off x="3749378" y="5978327"/>
            <a:ext cx="2361307" cy="565150"/>
          </a:xfrm>
          <a:prstGeom prst="roundRect">
            <a:avLst>
              <a:gd fmla="val 5000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4"/>
          <p:cNvSpPr/>
          <p:nvPr/>
        </p:nvSpPr>
        <p:spPr>
          <a:xfrm>
            <a:off x="4016078" y="6111677"/>
            <a:ext cx="190410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Indexing &amp; slicing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4"/>
          <p:cNvSpPr/>
          <p:nvPr/>
        </p:nvSpPr>
        <p:spPr>
          <a:xfrm>
            <a:off x="6263085" y="5978327"/>
            <a:ext cx="3410149" cy="565150"/>
          </a:xfrm>
          <a:prstGeom prst="roundRect">
            <a:avLst>
              <a:gd fmla="val 50000" name="adj"/>
            </a:avLst>
          </a:prstGeom>
          <a:solidFill>
            <a:srgbClr val="EAF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4"/>
          <p:cNvSpPr/>
          <p:nvPr/>
        </p:nvSpPr>
        <p:spPr>
          <a:xfrm>
            <a:off x="6529785" y="6111677"/>
            <a:ext cx="297905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Comprehensions &amp; lambda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1047750" y="6962577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Pre-work: finish your Session 1 drills and push them to GitHub.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2" name="Google Shape;91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34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4"/>
          <p:cNvSpPr/>
          <p:nvPr/>
        </p:nvSpPr>
        <p:spPr>
          <a:xfrm>
            <a:off x="14330462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4"/>
          <p:cNvSpPr/>
          <p:nvPr/>
        </p:nvSpPr>
        <p:spPr>
          <a:xfrm>
            <a:off x="17023954" y="9674225"/>
            <a:ext cx="292497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2026-07-17T10:24:36Z</dcterms:created>
  <dc:creator>PptxGenJS</dc:creator>
</cp:coreProperties>
</file>